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88952" cy="54864"/>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0972800" cy="822960"/>
          </a:xfrm>
          <a:prstGeom prst="rect">
            <a:avLst/>
          </a:prstGeom>
          <a:noFill/>
        </p:spPr>
        <p:txBody>
          <a:bodyPr wrap="square">
            <a:spAutoFit/>
          </a:bodyPr>
          <a:lstStyle/>
          <a:p>
            <a:pPr algn="ctr"/>
            <a:r>
              <a:rPr sz="4000" b="1" i="0">
                <a:solidFill>
                  <a:srgbClr val="FFFFFF"/>
                </a:solidFill>
                <a:latin typeface="Calibri"/>
              </a:rPr>
              <a:t>OPTIMIZACIÓN DE COSTOS</a:t>
            </a:r>
          </a:p>
        </p:txBody>
      </p:sp>
      <p:sp>
        <p:nvSpPr>
          <p:cNvPr id="5" name="TextBox 4"/>
          <p:cNvSpPr txBox="1"/>
          <p:nvPr/>
        </p:nvSpPr>
        <p:spPr>
          <a:xfrm>
            <a:off x="548640" y="2103120"/>
            <a:ext cx="10972800" cy="822960"/>
          </a:xfrm>
          <a:prstGeom prst="rect">
            <a:avLst/>
          </a:prstGeom>
          <a:noFill/>
        </p:spPr>
        <p:txBody>
          <a:bodyPr wrap="square">
            <a:spAutoFit/>
          </a:bodyPr>
          <a:lstStyle/>
          <a:p>
            <a:pPr algn="ctr"/>
            <a:r>
              <a:rPr sz="4000" b="1" i="0">
                <a:solidFill>
                  <a:srgbClr val="FFC000"/>
                </a:solidFill>
                <a:latin typeface="Calibri"/>
              </a:rPr>
              <a:t>DE MANTENIMIENTO 2026</a:t>
            </a:r>
          </a:p>
        </p:txBody>
      </p:sp>
      <p:sp>
        <p:nvSpPr>
          <p:cNvPr id="6" name="TextBox 5"/>
          <p:cNvSpPr txBox="1"/>
          <p:nvPr/>
        </p:nvSpPr>
        <p:spPr>
          <a:xfrm>
            <a:off x="548640" y="2926080"/>
            <a:ext cx="10972800" cy="457200"/>
          </a:xfrm>
          <a:prstGeom prst="rect">
            <a:avLst/>
          </a:prstGeom>
          <a:noFill/>
        </p:spPr>
        <p:txBody>
          <a:bodyPr wrap="square">
            <a:spAutoFit/>
          </a:bodyPr>
          <a:lstStyle/>
          <a:p>
            <a:pPr algn="ctr"/>
            <a:r>
              <a:rPr sz="1800" b="0" i="1">
                <a:solidFill>
                  <a:srgbClr val="BDD7EE"/>
                </a:solidFill>
                <a:latin typeface="Calibri"/>
              </a:rPr>
              <a:t>Plan de Acción · Proyección Financiera · Hoja de Ruta Mayo–Diciembre</a:t>
            </a:r>
          </a:p>
        </p:txBody>
      </p:sp>
      <p:sp>
        <p:nvSpPr>
          <p:cNvPr id="7" name="TextBox 6"/>
          <p:cNvSpPr txBox="1"/>
          <p:nvPr/>
        </p:nvSpPr>
        <p:spPr>
          <a:xfrm>
            <a:off x="548640" y="4389120"/>
            <a:ext cx="10972800" cy="365760"/>
          </a:xfrm>
          <a:prstGeom prst="rect">
            <a:avLst/>
          </a:prstGeom>
          <a:noFill/>
        </p:spPr>
        <p:txBody>
          <a:bodyPr wrap="square">
            <a:spAutoFit/>
          </a:bodyPr>
          <a:lstStyle/>
          <a:p>
            <a:pPr algn="ctr"/>
            <a:r>
              <a:rPr sz="1300" b="0" i="0">
                <a:solidFill>
                  <a:srgbClr val="8FAADC"/>
                </a:solidFill>
                <a:latin typeface="Calibri"/>
              </a:rPr>
              <a:t>Presentación para Gerencia General  ·  Mayo 2026  ·  Confidencial</a:t>
            </a:r>
          </a:p>
        </p:txBody>
      </p:sp>
      <p:sp>
        <p:nvSpPr>
          <p:cNvPr id="8" name="Rectangle 7"/>
          <p:cNvSpPr/>
          <p:nvPr/>
        </p:nvSpPr>
        <p:spPr>
          <a:xfrm>
            <a:off x="548640" y="4937760"/>
            <a:ext cx="2103120" cy="11887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983480"/>
            <a:ext cx="2103120" cy="502920"/>
          </a:xfrm>
          <a:prstGeom prst="rect">
            <a:avLst/>
          </a:prstGeom>
          <a:noFill/>
        </p:spPr>
        <p:txBody>
          <a:bodyPr wrap="square">
            <a:spAutoFit/>
          </a:bodyPr>
          <a:lstStyle/>
          <a:p>
            <a:pPr algn="ctr"/>
            <a:r>
              <a:rPr sz="2600" b="1" i="0">
                <a:solidFill>
                  <a:srgbClr val="C00000"/>
                </a:solidFill>
                <a:latin typeface="Calibri"/>
              </a:rPr>
              <a:t>$299.7M</a:t>
            </a:r>
          </a:p>
        </p:txBody>
      </p:sp>
      <p:sp>
        <p:nvSpPr>
          <p:cNvPr id="10" name="TextBox 9"/>
          <p:cNvSpPr txBox="1"/>
          <p:nvPr/>
        </p:nvSpPr>
        <p:spPr>
          <a:xfrm>
            <a:off x="548640" y="5468112"/>
            <a:ext cx="2103120" cy="411480"/>
          </a:xfrm>
          <a:prstGeom prst="rect">
            <a:avLst/>
          </a:prstGeom>
          <a:noFill/>
        </p:spPr>
        <p:txBody>
          <a:bodyPr wrap="square">
            <a:spAutoFit/>
          </a:bodyPr>
          <a:lstStyle/>
          <a:p>
            <a:pPr algn="ctr"/>
            <a:r>
              <a:rPr sz="1100" b="0" i="0">
                <a:solidFill>
                  <a:srgbClr val="BDD7EE"/>
                </a:solidFill>
                <a:latin typeface="Calibri"/>
              </a:rPr>
              <a:t>Costo real
Ene-Abr 2026</a:t>
            </a:r>
          </a:p>
        </p:txBody>
      </p:sp>
      <p:sp>
        <p:nvSpPr>
          <p:cNvPr id="11" name="Rectangle 10"/>
          <p:cNvSpPr/>
          <p:nvPr/>
        </p:nvSpPr>
        <p:spPr>
          <a:xfrm>
            <a:off x="2852928" y="4937760"/>
            <a:ext cx="2103120" cy="11887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2928" y="4983480"/>
            <a:ext cx="2103120" cy="502920"/>
          </a:xfrm>
          <a:prstGeom prst="rect">
            <a:avLst/>
          </a:prstGeom>
          <a:noFill/>
        </p:spPr>
        <p:txBody>
          <a:bodyPr wrap="square">
            <a:spAutoFit/>
          </a:bodyPr>
          <a:lstStyle/>
          <a:p>
            <a:pPr algn="ctr"/>
            <a:r>
              <a:rPr sz="2600" b="1" i="0">
                <a:solidFill>
                  <a:srgbClr val="FFC000"/>
                </a:solidFill>
                <a:latin typeface="Calibri"/>
              </a:rPr>
              <a:t>+33.5%</a:t>
            </a:r>
          </a:p>
        </p:txBody>
      </p:sp>
      <p:sp>
        <p:nvSpPr>
          <p:cNvPr id="13" name="TextBox 12"/>
          <p:cNvSpPr txBox="1"/>
          <p:nvPr/>
        </p:nvSpPr>
        <p:spPr>
          <a:xfrm>
            <a:off x="2852928" y="5468112"/>
            <a:ext cx="2103120" cy="411480"/>
          </a:xfrm>
          <a:prstGeom prst="rect">
            <a:avLst/>
          </a:prstGeom>
          <a:noFill/>
        </p:spPr>
        <p:txBody>
          <a:bodyPr wrap="square">
            <a:spAutoFit/>
          </a:bodyPr>
          <a:lstStyle/>
          <a:p>
            <a:pPr algn="ctr"/>
            <a:r>
              <a:rPr sz="1100" b="0" i="0">
                <a:solidFill>
                  <a:srgbClr val="BDD7EE"/>
                </a:solidFill>
                <a:latin typeface="Calibri"/>
              </a:rPr>
              <a:t>Sobrejecución
vs. presupuesto</a:t>
            </a:r>
          </a:p>
        </p:txBody>
      </p:sp>
      <p:sp>
        <p:nvSpPr>
          <p:cNvPr id="14" name="Rectangle 13"/>
          <p:cNvSpPr/>
          <p:nvPr/>
        </p:nvSpPr>
        <p:spPr>
          <a:xfrm>
            <a:off x="5157216" y="4937760"/>
            <a:ext cx="2103120" cy="11887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4983480"/>
            <a:ext cx="2103120" cy="502920"/>
          </a:xfrm>
          <a:prstGeom prst="rect">
            <a:avLst/>
          </a:prstGeom>
          <a:noFill/>
        </p:spPr>
        <p:txBody>
          <a:bodyPr wrap="square">
            <a:spAutoFit/>
          </a:bodyPr>
          <a:lstStyle/>
          <a:p>
            <a:pPr algn="ctr"/>
            <a:r>
              <a:rPr sz="2600" b="1" i="0">
                <a:solidFill>
                  <a:srgbClr val="70AD47"/>
                </a:solidFill>
                <a:latin typeface="Calibri"/>
              </a:rPr>
              <a:t>$113.5M</a:t>
            </a:r>
          </a:p>
        </p:txBody>
      </p:sp>
      <p:sp>
        <p:nvSpPr>
          <p:cNvPr id="16" name="TextBox 15"/>
          <p:cNvSpPr txBox="1"/>
          <p:nvPr/>
        </p:nvSpPr>
        <p:spPr>
          <a:xfrm>
            <a:off x="5157216" y="5468112"/>
            <a:ext cx="2103120" cy="411480"/>
          </a:xfrm>
          <a:prstGeom prst="rect">
            <a:avLst/>
          </a:prstGeom>
          <a:noFill/>
        </p:spPr>
        <p:txBody>
          <a:bodyPr wrap="square">
            <a:spAutoFit/>
          </a:bodyPr>
          <a:lstStyle/>
          <a:p>
            <a:pPr algn="ctr"/>
            <a:r>
              <a:rPr sz="1100" b="0" i="0">
                <a:solidFill>
                  <a:srgbClr val="BDD7EE"/>
                </a:solidFill>
                <a:latin typeface="Calibri"/>
              </a:rPr>
              <a:t>Ahorro
proyectado</a:t>
            </a:r>
          </a:p>
        </p:txBody>
      </p:sp>
      <p:sp>
        <p:nvSpPr>
          <p:cNvPr id="17" name="Rectangle 16"/>
          <p:cNvSpPr/>
          <p:nvPr/>
        </p:nvSpPr>
        <p:spPr>
          <a:xfrm>
            <a:off x="7461504" y="4937760"/>
            <a:ext cx="2103120" cy="118872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1504" y="4983480"/>
            <a:ext cx="2103120" cy="502920"/>
          </a:xfrm>
          <a:prstGeom prst="rect">
            <a:avLst/>
          </a:prstGeom>
          <a:noFill/>
        </p:spPr>
        <p:txBody>
          <a:bodyPr wrap="square">
            <a:spAutoFit/>
          </a:bodyPr>
          <a:lstStyle/>
          <a:p>
            <a:pPr algn="ctr"/>
            <a:r>
              <a:rPr sz="2600" b="1" i="0">
                <a:solidFill>
                  <a:srgbClr val="70AD47"/>
                </a:solidFill>
                <a:latin typeface="Calibri"/>
              </a:rPr>
              <a:t>297%</a:t>
            </a:r>
          </a:p>
        </p:txBody>
      </p:sp>
      <p:sp>
        <p:nvSpPr>
          <p:cNvPr id="19" name="TextBox 18"/>
          <p:cNvSpPr txBox="1"/>
          <p:nvPr/>
        </p:nvSpPr>
        <p:spPr>
          <a:xfrm>
            <a:off x="7461504" y="5468112"/>
            <a:ext cx="2103120" cy="411480"/>
          </a:xfrm>
          <a:prstGeom prst="rect">
            <a:avLst/>
          </a:prstGeom>
          <a:noFill/>
        </p:spPr>
        <p:txBody>
          <a:bodyPr wrap="square">
            <a:spAutoFit/>
          </a:bodyPr>
          <a:lstStyle/>
          <a:p>
            <a:pPr algn="ctr"/>
            <a:r>
              <a:rPr sz="1100" b="0" i="0">
                <a:solidFill>
                  <a:srgbClr val="BDD7EE"/>
                </a:solidFill>
                <a:latin typeface="Calibri"/>
              </a:rPr>
              <a:t>ROI
del plan</a:t>
            </a:r>
          </a:p>
        </p:txBody>
      </p:sp>
      <p:sp>
        <p:nvSpPr>
          <p:cNvPr id="20" name="Rectangle 19"/>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22" name="TextBox 21"/>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0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El Problema: Mantenimiento Fuera de Control</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Situación al cierre de Abril 2026</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1 / 8</a:t>
            </a:r>
          </a:p>
        </p:txBody>
      </p:sp>
      <p:sp>
        <p:nvSpPr>
          <p:cNvPr id="10" name="Rectangle 9"/>
          <p:cNvSpPr/>
          <p:nvPr/>
        </p:nvSpPr>
        <p:spPr>
          <a:xfrm>
            <a:off x="320040" y="1234440"/>
            <a:ext cx="2651760" cy="1143000"/>
          </a:xfrm>
          <a:prstGeom prst="rect">
            <a:avLst/>
          </a:prstGeom>
          <a:solidFill>
            <a:srgbClr val="FFDCDC"/>
          </a:solidFill>
          <a:ln w="1270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307592"/>
            <a:ext cx="2468880" cy="274320"/>
          </a:xfrm>
          <a:prstGeom prst="rect">
            <a:avLst/>
          </a:prstGeom>
          <a:noFill/>
        </p:spPr>
        <p:txBody>
          <a:bodyPr wrap="square">
            <a:spAutoFit/>
          </a:bodyPr>
          <a:lstStyle/>
          <a:p>
            <a:pPr algn="ctr"/>
            <a:r>
              <a:rPr sz="1100" b="0" i="0">
                <a:solidFill>
                  <a:srgbClr val="595959"/>
                </a:solidFill>
                <a:latin typeface="Calibri"/>
              </a:rPr>
              <a:t>Costo real Ene-Abr</a:t>
            </a:r>
          </a:p>
        </p:txBody>
      </p:sp>
      <p:sp>
        <p:nvSpPr>
          <p:cNvPr id="12" name="TextBox 11"/>
          <p:cNvSpPr txBox="1"/>
          <p:nvPr/>
        </p:nvSpPr>
        <p:spPr>
          <a:xfrm>
            <a:off x="365760" y="1554480"/>
            <a:ext cx="2560320" cy="502920"/>
          </a:xfrm>
          <a:prstGeom prst="rect">
            <a:avLst/>
          </a:prstGeom>
          <a:noFill/>
        </p:spPr>
        <p:txBody>
          <a:bodyPr wrap="square">
            <a:spAutoFit/>
          </a:bodyPr>
          <a:lstStyle/>
          <a:p>
            <a:pPr algn="ctr"/>
            <a:r>
              <a:rPr sz="2200" b="1" i="0">
                <a:solidFill>
                  <a:srgbClr val="C00000"/>
                </a:solidFill>
                <a:latin typeface="Calibri"/>
              </a:rPr>
              <a:t>$299.7M</a:t>
            </a:r>
          </a:p>
        </p:txBody>
      </p:sp>
      <p:sp>
        <p:nvSpPr>
          <p:cNvPr id="13" name="TextBox 12"/>
          <p:cNvSpPr txBox="1"/>
          <p:nvPr/>
        </p:nvSpPr>
        <p:spPr>
          <a:xfrm>
            <a:off x="411480" y="2039112"/>
            <a:ext cx="2468880" cy="256032"/>
          </a:xfrm>
          <a:prstGeom prst="rect">
            <a:avLst/>
          </a:prstGeom>
          <a:noFill/>
        </p:spPr>
        <p:txBody>
          <a:bodyPr wrap="square">
            <a:spAutoFit/>
          </a:bodyPr>
          <a:lstStyle/>
          <a:p>
            <a:pPr algn="ctr"/>
            <a:r>
              <a:rPr sz="1000" b="0" i="1">
                <a:solidFill>
                  <a:srgbClr val="595959"/>
                </a:solidFill>
                <a:latin typeface="Calibri"/>
              </a:rPr>
              <a:t>Presupuesto: $185M</a:t>
            </a:r>
          </a:p>
        </p:txBody>
      </p:sp>
      <p:sp>
        <p:nvSpPr>
          <p:cNvPr id="14" name="Rectangle 13"/>
          <p:cNvSpPr/>
          <p:nvPr/>
        </p:nvSpPr>
        <p:spPr>
          <a:xfrm>
            <a:off x="3172968" y="1234440"/>
            <a:ext cx="2651760" cy="1143000"/>
          </a:xfrm>
          <a:prstGeom prst="rect">
            <a:avLst/>
          </a:prstGeom>
          <a:solidFill>
            <a:srgbClr val="FFDCDC"/>
          </a:solidFill>
          <a:ln w="1270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64408" y="1307592"/>
            <a:ext cx="2468880" cy="274320"/>
          </a:xfrm>
          <a:prstGeom prst="rect">
            <a:avLst/>
          </a:prstGeom>
          <a:noFill/>
        </p:spPr>
        <p:txBody>
          <a:bodyPr wrap="square">
            <a:spAutoFit/>
          </a:bodyPr>
          <a:lstStyle/>
          <a:p>
            <a:pPr algn="ctr"/>
            <a:r>
              <a:rPr sz="1100" b="0" i="0">
                <a:solidFill>
                  <a:srgbClr val="595959"/>
                </a:solidFill>
                <a:latin typeface="Calibri"/>
              </a:rPr>
              <a:t>Sobrejecución</a:t>
            </a:r>
          </a:p>
        </p:txBody>
      </p:sp>
      <p:sp>
        <p:nvSpPr>
          <p:cNvPr id="16" name="TextBox 15"/>
          <p:cNvSpPr txBox="1"/>
          <p:nvPr/>
        </p:nvSpPr>
        <p:spPr>
          <a:xfrm>
            <a:off x="3218688" y="1554480"/>
            <a:ext cx="2560320" cy="502920"/>
          </a:xfrm>
          <a:prstGeom prst="rect">
            <a:avLst/>
          </a:prstGeom>
          <a:noFill/>
        </p:spPr>
        <p:txBody>
          <a:bodyPr wrap="square">
            <a:spAutoFit/>
          </a:bodyPr>
          <a:lstStyle/>
          <a:p>
            <a:pPr algn="ctr"/>
            <a:r>
              <a:rPr sz="2200" b="1" i="0">
                <a:solidFill>
                  <a:srgbClr val="C00000"/>
                </a:solidFill>
                <a:latin typeface="Calibri"/>
              </a:rPr>
              <a:t>+$114.7M</a:t>
            </a:r>
          </a:p>
        </p:txBody>
      </p:sp>
      <p:sp>
        <p:nvSpPr>
          <p:cNvPr id="17" name="TextBox 16"/>
          <p:cNvSpPr txBox="1"/>
          <p:nvPr/>
        </p:nvSpPr>
        <p:spPr>
          <a:xfrm>
            <a:off x="3264408" y="2039112"/>
            <a:ext cx="2468880" cy="256032"/>
          </a:xfrm>
          <a:prstGeom prst="rect">
            <a:avLst/>
          </a:prstGeom>
          <a:noFill/>
        </p:spPr>
        <p:txBody>
          <a:bodyPr wrap="square">
            <a:spAutoFit/>
          </a:bodyPr>
          <a:lstStyle/>
          <a:p>
            <a:pPr algn="ctr"/>
            <a:r>
              <a:rPr sz="1000" b="0" i="1">
                <a:solidFill>
                  <a:srgbClr val="595959"/>
                </a:solidFill>
                <a:latin typeface="Calibri"/>
              </a:rPr>
              <a:t>+33.5% vs. ppto</a:t>
            </a:r>
          </a:p>
        </p:txBody>
      </p:sp>
      <p:sp>
        <p:nvSpPr>
          <p:cNvPr id="18" name="Rectangle 17"/>
          <p:cNvSpPr/>
          <p:nvPr/>
        </p:nvSpPr>
        <p:spPr>
          <a:xfrm>
            <a:off x="6025896" y="1234440"/>
            <a:ext cx="2651760" cy="1143000"/>
          </a:xfrm>
          <a:prstGeom prst="rect">
            <a:avLst/>
          </a:prstGeom>
          <a:solidFill>
            <a:srgbClr val="FFDCDC"/>
          </a:solidFill>
          <a:ln w="1270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17336" y="1307592"/>
            <a:ext cx="2468880" cy="274320"/>
          </a:xfrm>
          <a:prstGeom prst="rect">
            <a:avLst/>
          </a:prstGeom>
          <a:noFill/>
        </p:spPr>
        <p:txBody>
          <a:bodyPr wrap="square">
            <a:spAutoFit/>
          </a:bodyPr>
          <a:lstStyle/>
          <a:p>
            <a:pPr algn="ctr"/>
            <a:r>
              <a:rPr sz="1100" b="0" i="0">
                <a:solidFill>
                  <a:srgbClr val="595959"/>
                </a:solidFill>
                <a:latin typeface="Calibri"/>
              </a:rPr>
              <a:t>KPI Costo / Ventas</a:t>
            </a:r>
          </a:p>
        </p:txBody>
      </p:sp>
      <p:sp>
        <p:nvSpPr>
          <p:cNvPr id="20" name="TextBox 19"/>
          <p:cNvSpPr txBox="1"/>
          <p:nvPr/>
        </p:nvSpPr>
        <p:spPr>
          <a:xfrm>
            <a:off x="6071616" y="1554480"/>
            <a:ext cx="2560320" cy="502920"/>
          </a:xfrm>
          <a:prstGeom prst="rect">
            <a:avLst/>
          </a:prstGeom>
          <a:noFill/>
        </p:spPr>
        <p:txBody>
          <a:bodyPr wrap="square">
            <a:spAutoFit/>
          </a:bodyPr>
          <a:lstStyle/>
          <a:p>
            <a:pPr algn="ctr"/>
            <a:r>
              <a:rPr sz="2200" b="1" i="0">
                <a:solidFill>
                  <a:srgbClr val="C00000"/>
                </a:solidFill>
                <a:latin typeface="Calibri"/>
              </a:rPr>
              <a:t>3.89%</a:t>
            </a:r>
          </a:p>
        </p:txBody>
      </p:sp>
      <p:sp>
        <p:nvSpPr>
          <p:cNvPr id="21" name="TextBox 20"/>
          <p:cNvSpPr txBox="1"/>
          <p:nvPr/>
        </p:nvSpPr>
        <p:spPr>
          <a:xfrm>
            <a:off x="6117336" y="2039112"/>
            <a:ext cx="2468880" cy="256032"/>
          </a:xfrm>
          <a:prstGeom prst="rect">
            <a:avLst/>
          </a:prstGeom>
          <a:noFill/>
        </p:spPr>
        <p:txBody>
          <a:bodyPr wrap="square">
            <a:spAutoFit/>
          </a:bodyPr>
          <a:lstStyle/>
          <a:p>
            <a:pPr algn="ctr"/>
            <a:r>
              <a:rPr sz="1000" b="0" i="1">
                <a:solidFill>
                  <a:srgbClr val="595959"/>
                </a:solidFill>
                <a:latin typeface="Calibri"/>
              </a:rPr>
              <a:t>Meta: ≤ 2.5%</a:t>
            </a:r>
          </a:p>
        </p:txBody>
      </p:sp>
      <p:sp>
        <p:nvSpPr>
          <p:cNvPr id="22" name="Rectangle 21"/>
          <p:cNvSpPr/>
          <p:nvPr/>
        </p:nvSpPr>
        <p:spPr>
          <a:xfrm>
            <a:off x="8878824" y="1234440"/>
            <a:ext cx="2651760" cy="1143000"/>
          </a:xfrm>
          <a:prstGeom prst="rect">
            <a:avLst/>
          </a:prstGeom>
          <a:solidFill>
            <a:srgbClr val="FFF2CC"/>
          </a:solidFill>
          <a:ln w="1270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70264" y="1307592"/>
            <a:ext cx="2468880" cy="274320"/>
          </a:xfrm>
          <a:prstGeom prst="rect">
            <a:avLst/>
          </a:prstGeom>
          <a:noFill/>
        </p:spPr>
        <p:txBody>
          <a:bodyPr wrap="square">
            <a:spAutoFit/>
          </a:bodyPr>
          <a:lstStyle/>
          <a:p>
            <a:pPr algn="ctr"/>
            <a:r>
              <a:rPr sz="1100" b="0" i="0">
                <a:solidFill>
                  <a:srgbClr val="595959"/>
                </a:solidFill>
                <a:latin typeface="Calibri"/>
              </a:rPr>
              <a:t>Margen bruto</a:t>
            </a:r>
          </a:p>
        </p:txBody>
      </p:sp>
      <p:sp>
        <p:nvSpPr>
          <p:cNvPr id="24" name="TextBox 23"/>
          <p:cNvSpPr txBox="1"/>
          <p:nvPr/>
        </p:nvSpPr>
        <p:spPr>
          <a:xfrm>
            <a:off x="8924544" y="1554480"/>
            <a:ext cx="2560320" cy="502920"/>
          </a:xfrm>
          <a:prstGeom prst="rect">
            <a:avLst/>
          </a:prstGeom>
          <a:noFill/>
        </p:spPr>
        <p:txBody>
          <a:bodyPr wrap="square">
            <a:spAutoFit/>
          </a:bodyPr>
          <a:lstStyle/>
          <a:p>
            <a:pPr algn="ctr"/>
            <a:r>
              <a:rPr sz="2200" b="1" i="0">
                <a:solidFill>
                  <a:srgbClr val="7F6000"/>
                </a:solidFill>
                <a:latin typeface="Calibri"/>
              </a:rPr>
              <a:t>-2.8 pp</a:t>
            </a:r>
          </a:p>
        </p:txBody>
      </p:sp>
      <p:sp>
        <p:nvSpPr>
          <p:cNvPr id="25" name="TextBox 24"/>
          <p:cNvSpPr txBox="1"/>
          <p:nvPr/>
        </p:nvSpPr>
        <p:spPr>
          <a:xfrm>
            <a:off x="8970264" y="2039112"/>
            <a:ext cx="2468880" cy="256032"/>
          </a:xfrm>
          <a:prstGeom prst="rect">
            <a:avLst/>
          </a:prstGeom>
          <a:noFill/>
        </p:spPr>
        <p:txBody>
          <a:bodyPr wrap="square">
            <a:spAutoFit/>
          </a:bodyPr>
          <a:lstStyle/>
          <a:p>
            <a:pPr algn="ctr"/>
            <a:r>
              <a:rPr sz="1000" b="0" i="1">
                <a:solidFill>
                  <a:srgbClr val="595959"/>
                </a:solidFill>
                <a:latin typeface="Calibri"/>
              </a:rPr>
              <a:t>Erosión vs. 2025</a:t>
            </a:r>
          </a:p>
        </p:txBody>
      </p:sp>
      <p:sp>
        <p:nvSpPr>
          <p:cNvPr id="26" name="Rectangle 25"/>
          <p:cNvSpPr/>
          <p:nvPr/>
        </p:nvSpPr>
        <p:spPr>
          <a:xfrm>
            <a:off x="320040" y="2514600"/>
            <a:ext cx="1828800" cy="402336"/>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2578608"/>
            <a:ext cx="1737360" cy="310896"/>
          </a:xfrm>
          <a:prstGeom prst="rect">
            <a:avLst/>
          </a:prstGeom>
          <a:noFill/>
        </p:spPr>
        <p:txBody>
          <a:bodyPr wrap="square">
            <a:spAutoFit/>
          </a:bodyPr>
          <a:lstStyle/>
          <a:p>
            <a:pPr algn="ctr"/>
            <a:r>
              <a:rPr sz="1300" b="1" i="0">
                <a:solidFill>
                  <a:srgbClr val="FFFFFF"/>
                </a:solidFill>
                <a:latin typeface="Calibri"/>
              </a:rPr>
              <a:t>Mes</a:t>
            </a:r>
          </a:p>
        </p:txBody>
      </p:sp>
      <p:sp>
        <p:nvSpPr>
          <p:cNvPr id="28" name="Rectangle 27"/>
          <p:cNvSpPr/>
          <p:nvPr/>
        </p:nvSpPr>
        <p:spPr>
          <a:xfrm>
            <a:off x="2212848" y="2514600"/>
            <a:ext cx="1828800" cy="402336"/>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58568" y="2578608"/>
            <a:ext cx="1737360" cy="310896"/>
          </a:xfrm>
          <a:prstGeom prst="rect">
            <a:avLst/>
          </a:prstGeom>
          <a:noFill/>
        </p:spPr>
        <p:txBody>
          <a:bodyPr wrap="square">
            <a:spAutoFit/>
          </a:bodyPr>
          <a:lstStyle/>
          <a:p>
            <a:pPr algn="ctr"/>
            <a:r>
              <a:rPr sz="1300" b="1" i="0">
                <a:solidFill>
                  <a:srgbClr val="FFFFFF"/>
                </a:solidFill>
                <a:latin typeface="Calibri"/>
              </a:rPr>
              <a:t>Costo Real</a:t>
            </a:r>
          </a:p>
        </p:txBody>
      </p:sp>
      <p:sp>
        <p:nvSpPr>
          <p:cNvPr id="30" name="Rectangle 29"/>
          <p:cNvSpPr/>
          <p:nvPr/>
        </p:nvSpPr>
        <p:spPr>
          <a:xfrm>
            <a:off x="4105656" y="2514600"/>
            <a:ext cx="1828800" cy="402336"/>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51376" y="2578608"/>
            <a:ext cx="1737360" cy="310896"/>
          </a:xfrm>
          <a:prstGeom prst="rect">
            <a:avLst/>
          </a:prstGeom>
          <a:noFill/>
        </p:spPr>
        <p:txBody>
          <a:bodyPr wrap="square">
            <a:spAutoFit/>
          </a:bodyPr>
          <a:lstStyle/>
          <a:p>
            <a:pPr algn="ctr"/>
            <a:r>
              <a:rPr sz="1300" b="1" i="0">
                <a:solidFill>
                  <a:srgbClr val="FFFFFF"/>
                </a:solidFill>
                <a:latin typeface="Calibri"/>
              </a:rPr>
              <a:t>Presupuesto</a:t>
            </a:r>
          </a:p>
        </p:txBody>
      </p:sp>
      <p:sp>
        <p:nvSpPr>
          <p:cNvPr id="32" name="Rectangle 31"/>
          <p:cNvSpPr/>
          <p:nvPr/>
        </p:nvSpPr>
        <p:spPr>
          <a:xfrm>
            <a:off x="5998464" y="2514600"/>
            <a:ext cx="1828800" cy="402336"/>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44184" y="2578608"/>
            <a:ext cx="1737360" cy="310896"/>
          </a:xfrm>
          <a:prstGeom prst="rect">
            <a:avLst/>
          </a:prstGeom>
          <a:noFill/>
        </p:spPr>
        <p:txBody>
          <a:bodyPr wrap="square">
            <a:spAutoFit/>
          </a:bodyPr>
          <a:lstStyle/>
          <a:p>
            <a:pPr algn="ctr"/>
            <a:r>
              <a:rPr sz="1300" b="1" i="0">
                <a:solidFill>
                  <a:srgbClr val="FFFFFF"/>
                </a:solidFill>
                <a:latin typeface="Calibri"/>
              </a:rPr>
              <a:t>Desviación</a:t>
            </a:r>
          </a:p>
        </p:txBody>
      </p:sp>
      <p:sp>
        <p:nvSpPr>
          <p:cNvPr id="34" name="Rectangle 33"/>
          <p:cNvSpPr/>
          <p:nvPr/>
        </p:nvSpPr>
        <p:spPr>
          <a:xfrm>
            <a:off x="7891272" y="2514600"/>
            <a:ext cx="1463040" cy="402336"/>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36992" y="2578608"/>
            <a:ext cx="1371600" cy="310896"/>
          </a:xfrm>
          <a:prstGeom prst="rect">
            <a:avLst/>
          </a:prstGeom>
          <a:noFill/>
        </p:spPr>
        <p:txBody>
          <a:bodyPr wrap="square">
            <a:spAutoFit/>
          </a:bodyPr>
          <a:lstStyle/>
          <a:p>
            <a:pPr algn="ctr"/>
            <a:r>
              <a:rPr sz="1300" b="1" i="0">
                <a:solidFill>
                  <a:srgbClr val="FFFFFF"/>
                </a:solidFill>
                <a:latin typeface="Calibri"/>
              </a:rPr>
              <a:t>% Desv.</a:t>
            </a:r>
          </a:p>
        </p:txBody>
      </p:sp>
      <p:sp>
        <p:nvSpPr>
          <p:cNvPr id="36" name="Rectangle 35"/>
          <p:cNvSpPr/>
          <p:nvPr/>
        </p:nvSpPr>
        <p:spPr>
          <a:xfrm>
            <a:off x="320040" y="2916936"/>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2980944"/>
            <a:ext cx="1737360" cy="310896"/>
          </a:xfrm>
          <a:prstGeom prst="rect">
            <a:avLst/>
          </a:prstGeom>
          <a:noFill/>
        </p:spPr>
        <p:txBody>
          <a:bodyPr wrap="square">
            <a:spAutoFit/>
          </a:bodyPr>
          <a:lstStyle/>
          <a:p>
            <a:pPr algn="ctr"/>
            <a:r>
              <a:rPr sz="1300" b="0" i="0">
                <a:solidFill>
                  <a:srgbClr val="000000"/>
                </a:solidFill>
                <a:latin typeface="Calibri"/>
              </a:rPr>
              <a:t>Enero 2026</a:t>
            </a:r>
          </a:p>
        </p:txBody>
      </p:sp>
      <p:sp>
        <p:nvSpPr>
          <p:cNvPr id="38" name="Rectangle 37"/>
          <p:cNvSpPr/>
          <p:nvPr/>
        </p:nvSpPr>
        <p:spPr>
          <a:xfrm>
            <a:off x="2212848" y="2916936"/>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58568" y="2980944"/>
            <a:ext cx="1737360" cy="310896"/>
          </a:xfrm>
          <a:prstGeom prst="rect">
            <a:avLst/>
          </a:prstGeom>
          <a:noFill/>
        </p:spPr>
        <p:txBody>
          <a:bodyPr wrap="square">
            <a:spAutoFit/>
          </a:bodyPr>
          <a:lstStyle/>
          <a:p>
            <a:pPr algn="ctr"/>
            <a:r>
              <a:rPr sz="1300" b="0" i="0">
                <a:solidFill>
                  <a:srgbClr val="000000"/>
                </a:solidFill>
                <a:latin typeface="Calibri"/>
              </a:rPr>
              <a:t>$53.9M</a:t>
            </a:r>
          </a:p>
        </p:txBody>
      </p:sp>
      <p:sp>
        <p:nvSpPr>
          <p:cNvPr id="40" name="Rectangle 39"/>
          <p:cNvSpPr/>
          <p:nvPr/>
        </p:nvSpPr>
        <p:spPr>
          <a:xfrm>
            <a:off x="4105656" y="2916936"/>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51376" y="2980944"/>
            <a:ext cx="1737360" cy="310896"/>
          </a:xfrm>
          <a:prstGeom prst="rect">
            <a:avLst/>
          </a:prstGeom>
          <a:noFill/>
        </p:spPr>
        <p:txBody>
          <a:bodyPr wrap="square">
            <a:spAutoFit/>
          </a:bodyPr>
          <a:lstStyle/>
          <a:p>
            <a:pPr algn="ctr"/>
            <a:r>
              <a:rPr sz="1300" b="0" i="0">
                <a:solidFill>
                  <a:srgbClr val="000000"/>
                </a:solidFill>
                <a:latin typeface="Calibri"/>
              </a:rPr>
              <a:t>$40.0M</a:t>
            </a:r>
          </a:p>
        </p:txBody>
      </p:sp>
      <p:sp>
        <p:nvSpPr>
          <p:cNvPr id="42" name="Rectangle 41"/>
          <p:cNvSpPr/>
          <p:nvPr/>
        </p:nvSpPr>
        <p:spPr>
          <a:xfrm>
            <a:off x="5998464" y="2916936"/>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44184" y="2980944"/>
            <a:ext cx="1737360" cy="310896"/>
          </a:xfrm>
          <a:prstGeom prst="rect">
            <a:avLst/>
          </a:prstGeom>
          <a:noFill/>
        </p:spPr>
        <p:txBody>
          <a:bodyPr wrap="square">
            <a:spAutoFit/>
          </a:bodyPr>
          <a:lstStyle/>
          <a:p>
            <a:pPr algn="ctr"/>
            <a:r>
              <a:rPr sz="1300" b="0" i="0">
                <a:solidFill>
                  <a:srgbClr val="C00000"/>
                </a:solidFill>
                <a:latin typeface="Calibri"/>
              </a:rPr>
              <a:t>+$13.9M</a:t>
            </a:r>
          </a:p>
        </p:txBody>
      </p:sp>
      <p:sp>
        <p:nvSpPr>
          <p:cNvPr id="44" name="Rectangle 43"/>
          <p:cNvSpPr/>
          <p:nvPr/>
        </p:nvSpPr>
        <p:spPr>
          <a:xfrm>
            <a:off x="7891272" y="2916936"/>
            <a:ext cx="146304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36992" y="2980944"/>
            <a:ext cx="1371600" cy="310896"/>
          </a:xfrm>
          <a:prstGeom prst="rect">
            <a:avLst/>
          </a:prstGeom>
          <a:noFill/>
        </p:spPr>
        <p:txBody>
          <a:bodyPr wrap="square">
            <a:spAutoFit/>
          </a:bodyPr>
          <a:lstStyle/>
          <a:p>
            <a:pPr algn="ctr"/>
            <a:r>
              <a:rPr sz="1300" b="0" i="0">
                <a:solidFill>
                  <a:srgbClr val="C00000"/>
                </a:solidFill>
                <a:latin typeface="Calibri"/>
              </a:rPr>
              <a:t>+35%</a:t>
            </a:r>
          </a:p>
        </p:txBody>
      </p:sp>
      <p:sp>
        <p:nvSpPr>
          <p:cNvPr id="46" name="Rectangle 45"/>
          <p:cNvSpPr/>
          <p:nvPr/>
        </p:nvSpPr>
        <p:spPr>
          <a:xfrm>
            <a:off x="320040" y="3364992"/>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3429000"/>
            <a:ext cx="1737360" cy="310896"/>
          </a:xfrm>
          <a:prstGeom prst="rect">
            <a:avLst/>
          </a:prstGeom>
          <a:noFill/>
        </p:spPr>
        <p:txBody>
          <a:bodyPr wrap="square">
            <a:spAutoFit/>
          </a:bodyPr>
          <a:lstStyle/>
          <a:p>
            <a:pPr algn="ctr"/>
            <a:r>
              <a:rPr sz="1300" b="0" i="0">
                <a:solidFill>
                  <a:srgbClr val="000000"/>
                </a:solidFill>
                <a:latin typeface="Calibri"/>
              </a:rPr>
              <a:t>Febrero 2026</a:t>
            </a:r>
          </a:p>
        </p:txBody>
      </p:sp>
      <p:sp>
        <p:nvSpPr>
          <p:cNvPr id="48" name="Rectangle 47"/>
          <p:cNvSpPr/>
          <p:nvPr/>
        </p:nvSpPr>
        <p:spPr>
          <a:xfrm>
            <a:off x="2212848" y="3364992"/>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58568" y="3429000"/>
            <a:ext cx="1737360" cy="310896"/>
          </a:xfrm>
          <a:prstGeom prst="rect">
            <a:avLst/>
          </a:prstGeom>
          <a:noFill/>
        </p:spPr>
        <p:txBody>
          <a:bodyPr wrap="square">
            <a:spAutoFit/>
          </a:bodyPr>
          <a:lstStyle/>
          <a:p>
            <a:pPr algn="ctr"/>
            <a:r>
              <a:rPr sz="1300" b="0" i="0">
                <a:solidFill>
                  <a:srgbClr val="000000"/>
                </a:solidFill>
                <a:latin typeface="Calibri"/>
              </a:rPr>
              <a:t>$56.9M</a:t>
            </a:r>
          </a:p>
        </p:txBody>
      </p:sp>
      <p:sp>
        <p:nvSpPr>
          <p:cNvPr id="50" name="Rectangle 49"/>
          <p:cNvSpPr/>
          <p:nvPr/>
        </p:nvSpPr>
        <p:spPr>
          <a:xfrm>
            <a:off x="4105656" y="3364992"/>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51376" y="3429000"/>
            <a:ext cx="1737360" cy="310896"/>
          </a:xfrm>
          <a:prstGeom prst="rect">
            <a:avLst/>
          </a:prstGeom>
          <a:noFill/>
        </p:spPr>
        <p:txBody>
          <a:bodyPr wrap="square">
            <a:spAutoFit/>
          </a:bodyPr>
          <a:lstStyle/>
          <a:p>
            <a:pPr algn="ctr"/>
            <a:r>
              <a:rPr sz="1300" b="0" i="0">
                <a:solidFill>
                  <a:srgbClr val="000000"/>
                </a:solidFill>
                <a:latin typeface="Calibri"/>
              </a:rPr>
              <a:t>$45.0M</a:t>
            </a:r>
          </a:p>
        </p:txBody>
      </p:sp>
      <p:sp>
        <p:nvSpPr>
          <p:cNvPr id="52" name="Rectangle 51"/>
          <p:cNvSpPr/>
          <p:nvPr/>
        </p:nvSpPr>
        <p:spPr>
          <a:xfrm>
            <a:off x="5998464" y="3364992"/>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44184" y="3429000"/>
            <a:ext cx="1737360" cy="310896"/>
          </a:xfrm>
          <a:prstGeom prst="rect">
            <a:avLst/>
          </a:prstGeom>
          <a:noFill/>
        </p:spPr>
        <p:txBody>
          <a:bodyPr wrap="square">
            <a:spAutoFit/>
          </a:bodyPr>
          <a:lstStyle/>
          <a:p>
            <a:pPr algn="ctr"/>
            <a:r>
              <a:rPr sz="1300" b="0" i="0">
                <a:solidFill>
                  <a:srgbClr val="C00000"/>
                </a:solidFill>
                <a:latin typeface="Calibri"/>
              </a:rPr>
              <a:t>+$11.9M</a:t>
            </a:r>
          </a:p>
        </p:txBody>
      </p:sp>
      <p:sp>
        <p:nvSpPr>
          <p:cNvPr id="54" name="Rectangle 53"/>
          <p:cNvSpPr/>
          <p:nvPr/>
        </p:nvSpPr>
        <p:spPr>
          <a:xfrm>
            <a:off x="7891272" y="3364992"/>
            <a:ext cx="146304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36992" y="3429000"/>
            <a:ext cx="1371600" cy="310896"/>
          </a:xfrm>
          <a:prstGeom prst="rect">
            <a:avLst/>
          </a:prstGeom>
          <a:noFill/>
        </p:spPr>
        <p:txBody>
          <a:bodyPr wrap="square">
            <a:spAutoFit/>
          </a:bodyPr>
          <a:lstStyle/>
          <a:p>
            <a:pPr algn="ctr"/>
            <a:r>
              <a:rPr sz="1300" b="0" i="0">
                <a:solidFill>
                  <a:srgbClr val="C00000"/>
                </a:solidFill>
                <a:latin typeface="Calibri"/>
              </a:rPr>
              <a:t>+26%</a:t>
            </a:r>
          </a:p>
        </p:txBody>
      </p:sp>
      <p:sp>
        <p:nvSpPr>
          <p:cNvPr id="56" name="Rectangle 55"/>
          <p:cNvSpPr/>
          <p:nvPr/>
        </p:nvSpPr>
        <p:spPr>
          <a:xfrm>
            <a:off x="320040" y="3813048"/>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3877056"/>
            <a:ext cx="1737360" cy="310896"/>
          </a:xfrm>
          <a:prstGeom prst="rect">
            <a:avLst/>
          </a:prstGeom>
          <a:noFill/>
        </p:spPr>
        <p:txBody>
          <a:bodyPr wrap="square">
            <a:spAutoFit/>
          </a:bodyPr>
          <a:lstStyle/>
          <a:p>
            <a:pPr algn="ctr"/>
            <a:r>
              <a:rPr sz="1300" b="0" i="0">
                <a:solidFill>
                  <a:srgbClr val="000000"/>
                </a:solidFill>
                <a:latin typeface="Calibri"/>
              </a:rPr>
              <a:t>Marzo 2026</a:t>
            </a:r>
          </a:p>
        </p:txBody>
      </p:sp>
      <p:sp>
        <p:nvSpPr>
          <p:cNvPr id="58" name="Rectangle 57"/>
          <p:cNvSpPr/>
          <p:nvPr/>
        </p:nvSpPr>
        <p:spPr>
          <a:xfrm>
            <a:off x="2212848" y="3813048"/>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58568" y="3877056"/>
            <a:ext cx="1737360" cy="310896"/>
          </a:xfrm>
          <a:prstGeom prst="rect">
            <a:avLst/>
          </a:prstGeom>
          <a:noFill/>
        </p:spPr>
        <p:txBody>
          <a:bodyPr wrap="square">
            <a:spAutoFit/>
          </a:bodyPr>
          <a:lstStyle/>
          <a:p>
            <a:pPr algn="ctr"/>
            <a:r>
              <a:rPr sz="1300" b="0" i="0">
                <a:solidFill>
                  <a:srgbClr val="000000"/>
                </a:solidFill>
                <a:latin typeface="Calibri"/>
              </a:rPr>
              <a:t>$85.1M</a:t>
            </a:r>
          </a:p>
        </p:txBody>
      </p:sp>
      <p:sp>
        <p:nvSpPr>
          <p:cNvPr id="60" name="Rectangle 59"/>
          <p:cNvSpPr/>
          <p:nvPr/>
        </p:nvSpPr>
        <p:spPr>
          <a:xfrm>
            <a:off x="4105656" y="3813048"/>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51376" y="3877056"/>
            <a:ext cx="1737360" cy="310896"/>
          </a:xfrm>
          <a:prstGeom prst="rect">
            <a:avLst/>
          </a:prstGeom>
          <a:noFill/>
        </p:spPr>
        <p:txBody>
          <a:bodyPr wrap="square">
            <a:spAutoFit/>
          </a:bodyPr>
          <a:lstStyle/>
          <a:p>
            <a:pPr algn="ctr"/>
            <a:r>
              <a:rPr sz="1300" b="0" i="0">
                <a:solidFill>
                  <a:srgbClr val="000000"/>
                </a:solidFill>
                <a:latin typeface="Calibri"/>
              </a:rPr>
              <a:t>$50.0M</a:t>
            </a:r>
          </a:p>
        </p:txBody>
      </p:sp>
      <p:sp>
        <p:nvSpPr>
          <p:cNvPr id="62" name="Rectangle 61"/>
          <p:cNvSpPr/>
          <p:nvPr/>
        </p:nvSpPr>
        <p:spPr>
          <a:xfrm>
            <a:off x="5998464" y="3813048"/>
            <a:ext cx="182880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44184" y="3877056"/>
            <a:ext cx="1737360" cy="310896"/>
          </a:xfrm>
          <a:prstGeom prst="rect">
            <a:avLst/>
          </a:prstGeom>
          <a:noFill/>
        </p:spPr>
        <p:txBody>
          <a:bodyPr wrap="square">
            <a:spAutoFit/>
          </a:bodyPr>
          <a:lstStyle/>
          <a:p>
            <a:pPr algn="ctr"/>
            <a:r>
              <a:rPr sz="1300" b="0" i="0">
                <a:solidFill>
                  <a:srgbClr val="C00000"/>
                </a:solidFill>
                <a:latin typeface="Calibri"/>
              </a:rPr>
              <a:t>+$35.1M</a:t>
            </a:r>
          </a:p>
        </p:txBody>
      </p:sp>
      <p:sp>
        <p:nvSpPr>
          <p:cNvPr id="64" name="Rectangle 63"/>
          <p:cNvSpPr/>
          <p:nvPr/>
        </p:nvSpPr>
        <p:spPr>
          <a:xfrm>
            <a:off x="7891272" y="3813048"/>
            <a:ext cx="1463040" cy="402336"/>
          </a:xfrm>
          <a:prstGeom prst="rect">
            <a:avLst/>
          </a:prstGeom>
          <a:solidFill>
            <a:srgbClr val="F2F2F2"/>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36992" y="3877056"/>
            <a:ext cx="1371600" cy="310896"/>
          </a:xfrm>
          <a:prstGeom prst="rect">
            <a:avLst/>
          </a:prstGeom>
          <a:noFill/>
        </p:spPr>
        <p:txBody>
          <a:bodyPr wrap="square">
            <a:spAutoFit/>
          </a:bodyPr>
          <a:lstStyle/>
          <a:p>
            <a:pPr algn="ctr"/>
            <a:r>
              <a:rPr sz="1300" b="0" i="0">
                <a:solidFill>
                  <a:srgbClr val="C00000"/>
                </a:solidFill>
                <a:latin typeface="Calibri"/>
              </a:rPr>
              <a:t>+70%</a:t>
            </a:r>
          </a:p>
        </p:txBody>
      </p:sp>
      <p:sp>
        <p:nvSpPr>
          <p:cNvPr id="66" name="Rectangle 65"/>
          <p:cNvSpPr/>
          <p:nvPr/>
        </p:nvSpPr>
        <p:spPr>
          <a:xfrm>
            <a:off x="320040" y="4261104"/>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65760" y="4325112"/>
            <a:ext cx="1737360" cy="310896"/>
          </a:xfrm>
          <a:prstGeom prst="rect">
            <a:avLst/>
          </a:prstGeom>
          <a:noFill/>
        </p:spPr>
        <p:txBody>
          <a:bodyPr wrap="square">
            <a:spAutoFit/>
          </a:bodyPr>
          <a:lstStyle/>
          <a:p>
            <a:pPr algn="ctr"/>
            <a:r>
              <a:rPr sz="1300" b="0" i="0">
                <a:solidFill>
                  <a:srgbClr val="000000"/>
                </a:solidFill>
                <a:latin typeface="Calibri"/>
              </a:rPr>
              <a:t>Abril 2026</a:t>
            </a:r>
          </a:p>
        </p:txBody>
      </p:sp>
      <p:sp>
        <p:nvSpPr>
          <p:cNvPr id="68" name="Rectangle 67"/>
          <p:cNvSpPr/>
          <p:nvPr/>
        </p:nvSpPr>
        <p:spPr>
          <a:xfrm>
            <a:off x="2212848" y="4261104"/>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58568" y="4325112"/>
            <a:ext cx="1737360" cy="310896"/>
          </a:xfrm>
          <a:prstGeom prst="rect">
            <a:avLst/>
          </a:prstGeom>
          <a:noFill/>
        </p:spPr>
        <p:txBody>
          <a:bodyPr wrap="square">
            <a:spAutoFit/>
          </a:bodyPr>
          <a:lstStyle/>
          <a:p>
            <a:pPr algn="ctr"/>
            <a:r>
              <a:rPr sz="1300" b="0" i="0">
                <a:solidFill>
                  <a:srgbClr val="000000"/>
                </a:solidFill>
                <a:latin typeface="Calibri"/>
              </a:rPr>
              <a:t>$103.8M</a:t>
            </a:r>
          </a:p>
        </p:txBody>
      </p:sp>
      <p:sp>
        <p:nvSpPr>
          <p:cNvPr id="70" name="Rectangle 69"/>
          <p:cNvSpPr/>
          <p:nvPr/>
        </p:nvSpPr>
        <p:spPr>
          <a:xfrm>
            <a:off x="4105656" y="4261104"/>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51376" y="4325112"/>
            <a:ext cx="1737360" cy="310896"/>
          </a:xfrm>
          <a:prstGeom prst="rect">
            <a:avLst/>
          </a:prstGeom>
          <a:noFill/>
        </p:spPr>
        <p:txBody>
          <a:bodyPr wrap="square">
            <a:spAutoFit/>
          </a:bodyPr>
          <a:lstStyle/>
          <a:p>
            <a:pPr algn="ctr"/>
            <a:r>
              <a:rPr sz="1300" b="0" i="0">
                <a:solidFill>
                  <a:srgbClr val="000000"/>
                </a:solidFill>
                <a:latin typeface="Calibri"/>
              </a:rPr>
              <a:t>$50.0M</a:t>
            </a:r>
          </a:p>
        </p:txBody>
      </p:sp>
      <p:sp>
        <p:nvSpPr>
          <p:cNvPr id="72" name="Rectangle 71"/>
          <p:cNvSpPr/>
          <p:nvPr/>
        </p:nvSpPr>
        <p:spPr>
          <a:xfrm>
            <a:off x="5998464" y="4261104"/>
            <a:ext cx="182880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44184" y="4325112"/>
            <a:ext cx="1737360" cy="310896"/>
          </a:xfrm>
          <a:prstGeom prst="rect">
            <a:avLst/>
          </a:prstGeom>
          <a:noFill/>
        </p:spPr>
        <p:txBody>
          <a:bodyPr wrap="square">
            <a:spAutoFit/>
          </a:bodyPr>
          <a:lstStyle/>
          <a:p>
            <a:pPr algn="ctr"/>
            <a:r>
              <a:rPr sz="1300" b="0" i="0">
                <a:solidFill>
                  <a:srgbClr val="C00000"/>
                </a:solidFill>
                <a:latin typeface="Calibri"/>
              </a:rPr>
              <a:t>+$53.8M</a:t>
            </a:r>
          </a:p>
        </p:txBody>
      </p:sp>
      <p:sp>
        <p:nvSpPr>
          <p:cNvPr id="74" name="Rectangle 73"/>
          <p:cNvSpPr/>
          <p:nvPr/>
        </p:nvSpPr>
        <p:spPr>
          <a:xfrm>
            <a:off x="7891272" y="4261104"/>
            <a:ext cx="1463040" cy="40233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936992" y="4325112"/>
            <a:ext cx="1371600" cy="310896"/>
          </a:xfrm>
          <a:prstGeom prst="rect">
            <a:avLst/>
          </a:prstGeom>
          <a:noFill/>
        </p:spPr>
        <p:txBody>
          <a:bodyPr wrap="square">
            <a:spAutoFit/>
          </a:bodyPr>
          <a:lstStyle/>
          <a:p>
            <a:pPr algn="ctr"/>
            <a:r>
              <a:rPr sz="1300" b="0" i="0">
                <a:solidFill>
                  <a:srgbClr val="C00000"/>
                </a:solidFill>
                <a:latin typeface="Calibri"/>
              </a:rPr>
              <a:t>+108%</a:t>
            </a:r>
          </a:p>
        </p:txBody>
      </p:sp>
      <p:sp>
        <p:nvSpPr>
          <p:cNvPr id="76" name="Rectangle 75"/>
          <p:cNvSpPr/>
          <p:nvPr/>
        </p:nvSpPr>
        <p:spPr>
          <a:xfrm>
            <a:off x="320040" y="4709160"/>
            <a:ext cx="1828800" cy="402336"/>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65760" y="4773168"/>
            <a:ext cx="1737360" cy="310896"/>
          </a:xfrm>
          <a:prstGeom prst="rect">
            <a:avLst/>
          </a:prstGeom>
          <a:noFill/>
        </p:spPr>
        <p:txBody>
          <a:bodyPr wrap="square">
            <a:spAutoFit/>
          </a:bodyPr>
          <a:lstStyle/>
          <a:p>
            <a:pPr algn="ctr"/>
            <a:r>
              <a:rPr sz="1300" b="1" i="0">
                <a:solidFill>
                  <a:srgbClr val="C00000"/>
                </a:solidFill>
                <a:latin typeface="Calibri"/>
              </a:rPr>
              <a:t>TOTAL</a:t>
            </a:r>
          </a:p>
        </p:txBody>
      </p:sp>
      <p:sp>
        <p:nvSpPr>
          <p:cNvPr id="78" name="Rectangle 77"/>
          <p:cNvSpPr/>
          <p:nvPr/>
        </p:nvSpPr>
        <p:spPr>
          <a:xfrm>
            <a:off x="2212848" y="4709160"/>
            <a:ext cx="1828800" cy="402336"/>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58568" y="4773168"/>
            <a:ext cx="1737360" cy="310896"/>
          </a:xfrm>
          <a:prstGeom prst="rect">
            <a:avLst/>
          </a:prstGeom>
          <a:noFill/>
        </p:spPr>
        <p:txBody>
          <a:bodyPr wrap="square">
            <a:spAutoFit/>
          </a:bodyPr>
          <a:lstStyle/>
          <a:p>
            <a:pPr algn="ctr"/>
            <a:r>
              <a:rPr sz="1300" b="1" i="0">
                <a:solidFill>
                  <a:srgbClr val="C00000"/>
                </a:solidFill>
                <a:latin typeface="Calibri"/>
              </a:rPr>
              <a:t>$299.7M</a:t>
            </a:r>
          </a:p>
        </p:txBody>
      </p:sp>
      <p:sp>
        <p:nvSpPr>
          <p:cNvPr id="80" name="Rectangle 79"/>
          <p:cNvSpPr/>
          <p:nvPr/>
        </p:nvSpPr>
        <p:spPr>
          <a:xfrm>
            <a:off x="4105656" y="4709160"/>
            <a:ext cx="1828800" cy="402336"/>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151376" y="4773168"/>
            <a:ext cx="1737360" cy="310896"/>
          </a:xfrm>
          <a:prstGeom prst="rect">
            <a:avLst/>
          </a:prstGeom>
          <a:noFill/>
        </p:spPr>
        <p:txBody>
          <a:bodyPr wrap="square">
            <a:spAutoFit/>
          </a:bodyPr>
          <a:lstStyle/>
          <a:p>
            <a:pPr algn="ctr"/>
            <a:r>
              <a:rPr sz="1300" b="1" i="0">
                <a:solidFill>
                  <a:srgbClr val="C00000"/>
                </a:solidFill>
                <a:latin typeface="Calibri"/>
              </a:rPr>
              <a:t>$185.0M</a:t>
            </a:r>
          </a:p>
        </p:txBody>
      </p:sp>
      <p:sp>
        <p:nvSpPr>
          <p:cNvPr id="82" name="Rectangle 81"/>
          <p:cNvSpPr/>
          <p:nvPr/>
        </p:nvSpPr>
        <p:spPr>
          <a:xfrm>
            <a:off x="5998464" y="4709160"/>
            <a:ext cx="1828800" cy="402336"/>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044184" y="4773168"/>
            <a:ext cx="1737360" cy="310896"/>
          </a:xfrm>
          <a:prstGeom prst="rect">
            <a:avLst/>
          </a:prstGeom>
          <a:noFill/>
        </p:spPr>
        <p:txBody>
          <a:bodyPr wrap="square">
            <a:spAutoFit/>
          </a:bodyPr>
          <a:lstStyle/>
          <a:p>
            <a:pPr algn="ctr"/>
            <a:r>
              <a:rPr sz="1300" b="1" i="0">
                <a:solidFill>
                  <a:srgbClr val="C00000"/>
                </a:solidFill>
                <a:latin typeface="Calibri"/>
              </a:rPr>
              <a:t>+$114.7M</a:t>
            </a:r>
          </a:p>
        </p:txBody>
      </p:sp>
      <p:sp>
        <p:nvSpPr>
          <p:cNvPr id="84" name="Rectangle 83"/>
          <p:cNvSpPr/>
          <p:nvPr/>
        </p:nvSpPr>
        <p:spPr>
          <a:xfrm>
            <a:off x="7891272" y="4709160"/>
            <a:ext cx="1463040" cy="402336"/>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36992" y="4773168"/>
            <a:ext cx="1371600" cy="310896"/>
          </a:xfrm>
          <a:prstGeom prst="rect">
            <a:avLst/>
          </a:prstGeom>
          <a:noFill/>
        </p:spPr>
        <p:txBody>
          <a:bodyPr wrap="square">
            <a:spAutoFit/>
          </a:bodyPr>
          <a:lstStyle/>
          <a:p>
            <a:pPr algn="ctr"/>
            <a:r>
              <a:rPr sz="1300" b="1" i="0">
                <a:solidFill>
                  <a:srgbClr val="C00000"/>
                </a:solidFill>
                <a:latin typeface="Calibri"/>
              </a:rPr>
              <a:t>+62%</a:t>
            </a:r>
          </a:p>
        </p:txBody>
      </p:sp>
      <p:sp>
        <p:nvSpPr>
          <p:cNvPr id="86" name="Rectangle 85"/>
          <p:cNvSpPr/>
          <p:nvPr/>
        </p:nvSpPr>
        <p:spPr>
          <a:xfrm>
            <a:off x="9326880" y="2514600"/>
            <a:ext cx="2606040" cy="3840480"/>
          </a:xfrm>
          <a:prstGeom prst="rect">
            <a:avLst/>
          </a:prstGeom>
          <a:solidFill>
            <a:srgbClr val="FFDCDC"/>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418320" y="2606040"/>
            <a:ext cx="2423160" cy="411480"/>
          </a:xfrm>
          <a:prstGeom prst="rect">
            <a:avLst/>
          </a:prstGeom>
          <a:noFill/>
        </p:spPr>
        <p:txBody>
          <a:bodyPr wrap="square">
            <a:spAutoFit/>
          </a:bodyPr>
          <a:lstStyle/>
          <a:p>
            <a:pPr algn="ctr"/>
            <a:r>
              <a:rPr sz="1400" b="1" i="0">
                <a:solidFill>
                  <a:srgbClr val="C00000"/>
                </a:solidFill>
                <a:latin typeface="Calibri"/>
              </a:rPr>
              <a:t>⚠ ABRIL 2026</a:t>
            </a:r>
          </a:p>
        </p:txBody>
      </p:sp>
      <p:sp>
        <p:nvSpPr>
          <p:cNvPr id="88" name="TextBox 87"/>
          <p:cNvSpPr txBox="1"/>
          <p:nvPr/>
        </p:nvSpPr>
        <p:spPr>
          <a:xfrm>
            <a:off x="9418320" y="3017520"/>
            <a:ext cx="2423160" cy="731520"/>
          </a:xfrm>
          <a:prstGeom prst="rect">
            <a:avLst/>
          </a:prstGeom>
          <a:noFill/>
        </p:spPr>
        <p:txBody>
          <a:bodyPr wrap="square">
            <a:spAutoFit/>
          </a:bodyPr>
          <a:lstStyle/>
          <a:p>
            <a:pPr algn="ctr"/>
            <a:r>
              <a:rPr sz="2200" b="1" i="0">
                <a:solidFill>
                  <a:srgbClr val="C00000"/>
                </a:solidFill>
                <a:latin typeface="Calibri"/>
              </a:rPr>
              <a:t>+108%
sobre presupuesto</a:t>
            </a:r>
          </a:p>
        </p:txBody>
      </p:sp>
      <p:sp>
        <p:nvSpPr>
          <p:cNvPr id="89" name="TextBox 88"/>
          <p:cNvSpPr txBox="1"/>
          <p:nvPr/>
        </p:nvSpPr>
        <p:spPr>
          <a:xfrm>
            <a:off x="9418320" y="3794760"/>
            <a:ext cx="2423160" cy="777240"/>
          </a:xfrm>
          <a:prstGeom prst="rect">
            <a:avLst/>
          </a:prstGeom>
          <a:noFill/>
        </p:spPr>
        <p:txBody>
          <a:bodyPr wrap="square">
            <a:spAutoFit/>
          </a:bodyPr>
          <a:lstStyle/>
          <a:p>
            <a:pPr algn="ctr"/>
            <a:r>
              <a:rPr sz="1200" b="0" i="0">
                <a:solidFill>
                  <a:srgbClr val="595959"/>
                </a:solidFill>
                <a:latin typeface="Calibri"/>
              </a:rPr>
              <a:t>El peor mes registrado.
$68.7M sin descripción
técnica documentada.</a:t>
            </a:r>
          </a:p>
        </p:txBody>
      </p:sp>
      <p:sp>
        <p:nvSpPr>
          <p:cNvPr id="90" name="TextBox 89"/>
          <p:cNvSpPr txBox="1"/>
          <p:nvPr/>
        </p:nvSpPr>
        <p:spPr>
          <a:xfrm>
            <a:off x="9418320" y="4663440"/>
            <a:ext cx="2423160" cy="685800"/>
          </a:xfrm>
          <a:prstGeom prst="rect">
            <a:avLst/>
          </a:prstGeom>
          <a:noFill/>
        </p:spPr>
        <p:txBody>
          <a:bodyPr wrap="square">
            <a:spAutoFit/>
          </a:bodyPr>
          <a:lstStyle/>
          <a:p>
            <a:pPr algn="ctr"/>
            <a:r>
              <a:rPr sz="1200" b="1" i="0">
                <a:solidFill>
                  <a:srgbClr val="C00000"/>
                </a:solidFill>
                <a:latin typeface="Calibri"/>
              </a:rPr>
              <a:t>Sin acción inmediata:
costo 2026 proyectado
→ $993M (+72%)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Diagnóstico: ¿Dónde Está el Dinero?</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6 causas raíz identificadas en el análisis de datos</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2 / 8</a:t>
            </a:r>
          </a:p>
        </p:txBody>
      </p:sp>
      <p:sp>
        <p:nvSpPr>
          <p:cNvPr id="10" name="Rectangle 9"/>
          <p:cNvSpPr/>
          <p:nvPr/>
        </p:nvSpPr>
        <p:spPr>
          <a:xfrm>
            <a:off x="320040" y="1234440"/>
            <a:ext cx="3520440" cy="2148840"/>
          </a:xfrm>
          <a:prstGeom prst="rect">
            <a:avLst/>
          </a:prstGeom>
          <a:solidFill>
            <a:srgbClr val="FFDCDC"/>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234440"/>
            <a:ext cx="438912" cy="43891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1234440"/>
            <a:ext cx="438912" cy="438912"/>
          </a:xfrm>
          <a:prstGeom prst="rect">
            <a:avLst/>
          </a:prstGeom>
          <a:noFill/>
        </p:spPr>
        <p:txBody>
          <a:bodyPr wrap="square">
            <a:spAutoFit/>
          </a:bodyPr>
          <a:lstStyle/>
          <a:p>
            <a:pPr algn="ctr"/>
            <a:r>
              <a:rPr sz="1600" b="1" i="0">
                <a:solidFill>
                  <a:srgbClr val="FFFFFF"/>
                </a:solidFill>
                <a:latin typeface="Calibri"/>
              </a:rPr>
              <a:t>1</a:t>
            </a:r>
          </a:p>
        </p:txBody>
      </p:sp>
      <p:sp>
        <p:nvSpPr>
          <p:cNvPr id="13" name="TextBox 12"/>
          <p:cNvSpPr txBox="1"/>
          <p:nvPr/>
        </p:nvSpPr>
        <p:spPr>
          <a:xfrm>
            <a:off x="822960" y="1289304"/>
            <a:ext cx="2926080" cy="685800"/>
          </a:xfrm>
          <a:prstGeom prst="rect">
            <a:avLst/>
          </a:prstGeom>
          <a:noFill/>
        </p:spPr>
        <p:txBody>
          <a:bodyPr wrap="square">
            <a:spAutoFit/>
          </a:bodyPr>
          <a:lstStyle/>
          <a:p>
            <a:pPr algn="l"/>
            <a:r>
              <a:rPr sz="1300" b="1" i="0">
                <a:solidFill>
                  <a:srgbClr val="C00000"/>
                </a:solidFill>
                <a:latin typeface="Calibri"/>
              </a:rPr>
              <a:t>CIF Mantenimiento
+80.2% YoY</a:t>
            </a:r>
          </a:p>
        </p:txBody>
      </p:sp>
      <p:sp>
        <p:nvSpPr>
          <p:cNvPr id="14" name="TextBox 13"/>
          <p:cNvSpPr txBox="1"/>
          <p:nvPr/>
        </p:nvSpPr>
        <p:spPr>
          <a:xfrm>
            <a:off x="457200" y="2057400"/>
            <a:ext cx="3246120" cy="1005840"/>
          </a:xfrm>
          <a:prstGeom prst="rect">
            <a:avLst/>
          </a:prstGeom>
          <a:noFill/>
        </p:spPr>
        <p:txBody>
          <a:bodyPr wrap="square">
            <a:spAutoFit/>
          </a:bodyPr>
          <a:lstStyle/>
          <a:p>
            <a:pPr algn="l"/>
            <a:r>
              <a:rPr sz="1200" b="0" i="0">
                <a:solidFill>
                  <a:srgbClr val="595959"/>
                </a:solidFill>
                <a:latin typeface="Calibri"/>
              </a:rPr>
              <a:t>$179.7M (2025)
→ $299.7M (2026)</a:t>
            </a:r>
          </a:p>
        </p:txBody>
      </p:sp>
      <p:sp>
        <p:nvSpPr>
          <p:cNvPr id="15" name="Rectangle 14"/>
          <p:cNvSpPr/>
          <p:nvPr/>
        </p:nvSpPr>
        <p:spPr>
          <a:xfrm>
            <a:off x="4133088" y="1234440"/>
            <a:ext cx="3520440" cy="2148840"/>
          </a:xfrm>
          <a:prstGeom prst="rect">
            <a:avLst/>
          </a:prstGeom>
          <a:solidFill>
            <a:srgbClr val="FFDCDC"/>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33088" y="1234440"/>
            <a:ext cx="438912" cy="43891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33088" y="1234440"/>
            <a:ext cx="438912" cy="438912"/>
          </a:xfrm>
          <a:prstGeom prst="rect">
            <a:avLst/>
          </a:prstGeom>
          <a:noFill/>
        </p:spPr>
        <p:txBody>
          <a:bodyPr wrap="square">
            <a:spAutoFit/>
          </a:bodyPr>
          <a:lstStyle/>
          <a:p>
            <a:pPr algn="ctr"/>
            <a:r>
              <a:rPr sz="1600" b="1" i="0">
                <a:solidFill>
                  <a:srgbClr val="FFFFFF"/>
                </a:solidFill>
                <a:latin typeface="Calibri"/>
              </a:rPr>
              <a:t>2</a:t>
            </a:r>
          </a:p>
        </p:txBody>
      </p:sp>
      <p:sp>
        <p:nvSpPr>
          <p:cNvPr id="18" name="TextBox 17"/>
          <p:cNvSpPr txBox="1"/>
          <p:nvPr/>
        </p:nvSpPr>
        <p:spPr>
          <a:xfrm>
            <a:off x="4636008" y="1289304"/>
            <a:ext cx="2926080" cy="685800"/>
          </a:xfrm>
          <a:prstGeom prst="rect">
            <a:avLst/>
          </a:prstGeom>
          <a:noFill/>
        </p:spPr>
        <p:txBody>
          <a:bodyPr wrap="square">
            <a:spAutoFit/>
          </a:bodyPr>
          <a:lstStyle/>
          <a:p>
            <a:pPr algn="l"/>
            <a:r>
              <a:rPr sz="1300" b="1" i="0">
                <a:solidFill>
                  <a:srgbClr val="C00000"/>
                </a:solidFill>
                <a:latin typeface="Calibri"/>
              </a:rPr>
              <a:t>Personal Temporal
+65.3% sin aprobación</a:t>
            </a:r>
          </a:p>
        </p:txBody>
      </p:sp>
      <p:sp>
        <p:nvSpPr>
          <p:cNvPr id="19" name="TextBox 18"/>
          <p:cNvSpPr txBox="1"/>
          <p:nvPr/>
        </p:nvSpPr>
        <p:spPr>
          <a:xfrm>
            <a:off x="4270248" y="2057400"/>
            <a:ext cx="3246120" cy="1005840"/>
          </a:xfrm>
          <a:prstGeom prst="rect">
            <a:avLst/>
          </a:prstGeom>
          <a:noFill/>
        </p:spPr>
        <p:txBody>
          <a:bodyPr wrap="square">
            <a:spAutoFit/>
          </a:bodyPr>
          <a:lstStyle/>
          <a:p>
            <a:pPr algn="l"/>
            <a:r>
              <a:rPr sz="1200" b="0" i="0">
                <a:solidFill>
                  <a:srgbClr val="595959"/>
                </a:solidFill>
                <a:latin typeface="Calibri"/>
              </a:rPr>
              <a:t>$54M en 4 meses
3 cooperativas activas</a:t>
            </a:r>
          </a:p>
        </p:txBody>
      </p:sp>
      <p:sp>
        <p:nvSpPr>
          <p:cNvPr id="20" name="Rectangle 19"/>
          <p:cNvSpPr/>
          <p:nvPr/>
        </p:nvSpPr>
        <p:spPr>
          <a:xfrm>
            <a:off x="7946136" y="1234440"/>
            <a:ext cx="3520440" cy="2148840"/>
          </a:xfrm>
          <a:prstGeom prst="rect">
            <a:avLst/>
          </a:prstGeom>
          <a:solidFill>
            <a:srgbClr val="FFF2CC"/>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46136" y="1234440"/>
            <a:ext cx="438912" cy="43891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6136" y="1234440"/>
            <a:ext cx="438912" cy="438912"/>
          </a:xfrm>
          <a:prstGeom prst="rect">
            <a:avLst/>
          </a:prstGeom>
          <a:noFill/>
        </p:spPr>
        <p:txBody>
          <a:bodyPr wrap="square">
            <a:spAutoFit/>
          </a:bodyPr>
          <a:lstStyle/>
          <a:p>
            <a:pPr algn="ctr"/>
            <a:r>
              <a:rPr sz="1600" b="1" i="0">
                <a:solidFill>
                  <a:srgbClr val="FFFFFF"/>
                </a:solidFill>
                <a:latin typeface="Calibri"/>
              </a:rPr>
              <a:t>3</a:t>
            </a:r>
          </a:p>
        </p:txBody>
      </p:sp>
      <p:sp>
        <p:nvSpPr>
          <p:cNvPr id="23" name="TextBox 22"/>
          <p:cNvSpPr txBox="1"/>
          <p:nvPr/>
        </p:nvSpPr>
        <p:spPr>
          <a:xfrm>
            <a:off x="8449056" y="1289304"/>
            <a:ext cx="2926080" cy="685800"/>
          </a:xfrm>
          <a:prstGeom prst="rect">
            <a:avLst/>
          </a:prstGeom>
          <a:noFill/>
        </p:spPr>
        <p:txBody>
          <a:bodyPr wrap="square">
            <a:spAutoFit/>
          </a:bodyPr>
          <a:lstStyle/>
          <a:p>
            <a:pPr algn="l"/>
            <a:r>
              <a:rPr sz="1300" b="1" i="0">
                <a:solidFill>
                  <a:srgbClr val="FFC000"/>
                </a:solidFill>
                <a:latin typeface="Calibri"/>
              </a:rPr>
              <a:t>Pico Inyección Marzo
Ciclo recurrente</a:t>
            </a:r>
          </a:p>
        </p:txBody>
      </p:sp>
      <p:sp>
        <p:nvSpPr>
          <p:cNvPr id="24" name="TextBox 23"/>
          <p:cNvSpPr txBox="1"/>
          <p:nvPr/>
        </p:nvSpPr>
        <p:spPr>
          <a:xfrm>
            <a:off x="8083296" y="2057400"/>
            <a:ext cx="3246120" cy="1005840"/>
          </a:xfrm>
          <a:prstGeom prst="rect">
            <a:avLst/>
          </a:prstGeom>
          <a:noFill/>
        </p:spPr>
        <p:txBody>
          <a:bodyPr wrap="square">
            <a:spAutoFit/>
          </a:bodyPr>
          <a:lstStyle/>
          <a:p>
            <a:pPr algn="l"/>
            <a:r>
              <a:rPr sz="1200" b="0" i="0">
                <a:solidFill>
                  <a:srgbClr val="595959"/>
                </a:solidFill>
                <a:latin typeface="Calibri"/>
              </a:rPr>
              <a:t>$59M en un solo mes
No presupuestado</a:t>
            </a:r>
          </a:p>
        </p:txBody>
      </p:sp>
      <p:sp>
        <p:nvSpPr>
          <p:cNvPr id="25" name="Rectangle 24"/>
          <p:cNvSpPr/>
          <p:nvPr/>
        </p:nvSpPr>
        <p:spPr>
          <a:xfrm>
            <a:off x="320040" y="3584448"/>
            <a:ext cx="3520440" cy="2148840"/>
          </a:xfrm>
          <a:prstGeom prst="rect">
            <a:avLst/>
          </a:prstGeom>
          <a:solidFill>
            <a:srgbClr val="FFDCDC"/>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3584448"/>
            <a:ext cx="438912" cy="43891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3584448"/>
            <a:ext cx="438912" cy="438912"/>
          </a:xfrm>
          <a:prstGeom prst="rect">
            <a:avLst/>
          </a:prstGeom>
          <a:noFill/>
        </p:spPr>
        <p:txBody>
          <a:bodyPr wrap="square">
            <a:spAutoFit/>
          </a:bodyPr>
          <a:lstStyle/>
          <a:p>
            <a:pPr algn="ctr"/>
            <a:r>
              <a:rPr sz="1600" b="1" i="0">
                <a:solidFill>
                  <a:srgbClr val="FFFFFF"/>
                </a:solidFill>
                <a:latin typeface="Calibri"/>
              </a:rPr>
              <a:t>4</a:t>
            </a:r>
          </a:p>
        </p:txBody>
      </p:sp>
      <p:sp>
        <p:nvSpPr>
          <p:cNvPr id="28" name="TextBox 27"/>
          <p:cNvSpPr txBox="1"/>
          <p:nvPr/>
        </p:nvSpPr>
        <p:spPr>
          <a:xfrm>
            <a:off x="822960" y="3639312"/>
            <a:ext cx="2926080" cy="685800"/>
          </a:xfrm>
          <a:prstGeom prst="rect">
            <a:avLst/>
          </a:prstGeom>
          <a:noFill/>
        </p:spPr>
        <p:txBody>
          <a:bodyPr wrap="square">
            <a:spAutoFit/>
          </a:bodyPr>
          <a:lstStyle/>
          <a:p>
            <a:pPr algn="l"/>
            <a:r>
              <a:rPr sz="1300" b="1" i="0">
                <a:solidFill>
                  <a:srgbClr val="C00000"/>
                </a:solidFill>
                <a:latin typeface="Calibri"/>
              </a:rPr>
              <a:t>$68.7M sin trazabilidad
(55% de Abril)</a:t>
            </a:r>
          </a:p>
        </p:txBody>
      </p:sp>
      <p:sp>
        <p:nvSpPr>
          <p:cNvPr id="29" name="TextBox 28"/>
          <p:cNvSpPr txBox="1"/>
          <p:nvPr/>
        </p:nvSpPr>
        <p:spPr>
          <a:xfrm>
            <a:off x="457200" y="4407408"/>
            <a:ext cx="3246120" cy="1005840"/>
          </a:xfrm>
          <a:prstGeom prst="rect">
            <a:avLst/>
          </a:prstGeom>
          <a:noFill/>
        </p:spPr>
        <p:txBody>
          <a:bodyPr wrap="square">
            <a:spAutoFit/>
          </a:bodyPr>
          <a:lstStyle/>
          <a:p>
            <a:pPr algn="l"/>
            <a:r>
              <a:rPr sz="1200" b="0" i="0">
                <a:solidFill>
                  <a:srgbClr val="595959"/>
                </a:solidFill>
                <a:latin typeface="Calibri"/>
              </a:rPr>
              <a:t>Sin OT documentada
No se puede controlar</a:t>
            </a:r>
          </a:p>
        </p:txBody>
      </p:sp>
      <p:sp>
        <p:nvSpPr>
          <p:cNvPr id="30" name="Rectangle 29"/>
          <p:cNvSpPr/>
          <p:nvPr/>
        </p:nvSpPr>
        <p:spPr>
          <a:xfrm>
            <a:off x="4133088" y="3584448"/>
            <a:ext cx="3520440" cy="2148840"/>
          </a:xfrm>
          <a:prstGeom prst="rect">
            <a:avLst/>
          </a:prstGeom>
          <a:solidFill>
            <a:srgbClr val="FFF2CC"/>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33088" y="3584448"/>
            <a:ext cx="438912" cy="43891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3088" y="3584448"/>
            <a:ext cx="438912" cy="438912"/>
          </a:xfrm>
          <a:prstGeom prst="rect">
            <a:avLst/>
          </a:prstGeom>
          <a:noFill/>
        </p:spPr>
        <p:txBody>
          <a:bodyPr wrap="square">
            <a:spAutoFit/>
          </a:bodyPr>
          <a:lstStyle/>
          <a:p>
            <a:pPr algn="ctr"/>
            <a:r>
              <a:rPr sz="1600" b="1" i="0">
                <a:solidFill>
                  <a:srgbClr val="FFFFFF"/>
                </a:solidFill>
                <a:latin typeface="Calibri"/>
              </a:rPr>
              <a:t>5</a:t>
            </a:r>
          </a:p>
        </p:txBody>
      </p:sp>
      <p:sp>
        <p:nvSpPr>
          <p:cNvPr id="33" name="TextBox 32"/>
          <p:cNvSpPr txBox="1"/>
          <p:nvPr/>
        </p:nvSpPr>
        <p:spPr>
          <a:xfrm>
            <a:off x="4636008" y="3639312"/>
            <a:ext cx="2926080" cy="685800"/>
          </a:xfrm>
          <a:prstGeom prst="rect">
            <a:avLst/>
          </a:prstGeom>
          <a:noFill/>
        </p:spPr>
        <p:txBody>
          <a:bodyPr wrap="square">
            <a:spAutoFit/>
          </a:bodyPr>
          <a:lstStyle/>
          <a:p>
            <a:pPr algn="l"/>
            <a:r>
              <a:rPr sz="1300" b="1" i="0">
                <a:solidFill>
                  <a:srgbClr val="FFC000"/>
                </a:solidFill>
                <a:latin typeface="Calibri"/>
              </a:rPr>
              <a:t>Brecha contable
$146.9M</a:t>
            </a:r>
          </a:p>
        </p:txBody>
      </p:sp>
      <p:sp>
        <p:nvSpPr>
          <p:cNvPr id="34" name="TextBox 33"/>
          <p:cNvSpPr txBox="1"/>
          <p:nvPr/>
        </p:nvSpPr>
        <p:spPr>
          <a:xfrm>
            <a:off x="4270248" y="4407408"/>
            <a:ext cx="3246120" cy="1005840"/>
          </a:xfrm>
          <a:prstGeom prst="rect">
            <a:avLst/>
          </a:prstGeom>
          <a:noFill/>
        </p:spPr>
        <p:txBody>
          <a:bodyPr wrap="square">
            <a:spAutoFit/>
          </a:bodyPr>
          <a:lstStyle/>
          <a:p>
            <a:pPr algn="l"/>
            <a:r>
              <a:rPr sz="1200" b="0" i="0">
                <a:solidFill>
                  <a:srgbClr val="595959"/>
                </a:solidFill>
                <a:latin typeface="Calibri"/>
              </a:rPr>
              <a:t>2 fuentes distintas
Sin conciliación</a:t>
            </a:r>
          </a:p>
        </p:txBody>
      </p:sp>
      <p:sp>
        <p:nvSpPr>
          <p:cNvPr id="35" name="Rectangle 34"/>
          <p:cNvSpPr/>
          <p:nvPr/>
        </p:nvSpPr>
        <p:spPr>
          <a:xfrm>
            <a:off x="7946136" y="3584448"/>
            <a:ext cx="3520440" cy="2148840"/>
          </a:xfrm>
          <a:prstGeom prst="rect">
            <a:avLst/>
          </a:prstGeom>
          <a:solidFill>
            <a:srgbClr val="FFDCDC"/>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46136" y="3584448"/>
            <a:ext cx="438912" cy="43891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46136" y="3584448"/>
            <a:ext cx="438912" cy="438912"/>
          </a:xfrm>
          <a:prstGeom prst="rect">
            <a:avLst/>
          </a:prstGeom>
          <a:noFill/>
        </p:spPr>
        <p:txBody>
          <a:bodyPr wrap="square">
            <a:spAutoFit/>
          </a:bodyPr>
          <a:lstStyle/>
          <a:p>
            <a:pPr algn="ctr"/>
            <a:r>
              <a:rPr sz="1600" b="1" i="0">
                <a:solidFill>
                  <a:srgbClr val="FFFFFF"/>
                </a:solidFill>
                <a:latin typeface="Calibri"/>
              </a:rPr>
              <a:t>6</a:t>
            </a:r>
          </a:p>
        </p:txBody>
      </p:sp>
      <p:sp>
        <p:nvSpPr>
          <p:cNvPr id="38" name="TextBox 37"/>
          <p:cNvSpPr txBox="1"/>
          <p:nvPr/>
        </p:nvSpPr>
        <p:spPr>
          <a:xfrm>
            <a:off x="8449056" y="3639312"/>
            <a:ext cx="2926080" cy="685800"/>
          </a:xfrm>
          <a:prstGeom prst="rect">
            <a:avLst/>
          </a:prstGeom>
          <a:noFill/>
        </p:spPr>
        <p:txBody>
          <a:bodyPr wrap="square">
            <a:spAutoFit/>
          </a:bodyPr>
          <a:lstStyle/>
          <a:p>
            <a:pPr algn="l"/>
            <a:r>
              <a:rPr sz="1300" b="1" i="0">
                <a:solidFill>
                  <a:srgbClr val="C00000"/>
                </a:solidFill>
                <a:latin typeface="Calibri"/>
              </a:rPr>
              <a:t>70% Correctivo
30% Preventivo</a:t>
            </a:r>
          </a:p>
        </p:txBody>
      </p:sp>
      <p:sp>
        <p:nvSpPr>
          <p:cNvPr id="39" name="TextBox 38"/>
          <p:cNvSpPr txBox="1"/>
          <p:nvPr/>
        </p:nvSpPr>
        <p:spPr>
          <a:xfrm>
            <a:off x="8083296" y="4407408"/>
            <a:ext cx="3246120" cy="1005840"/>
          </a:xfrm>
          <a:prstGeom prst="rect">
            <a:avLst/>
          </a:prstGeom>
          <a:noFill/>
        </p:spPr>
        <p:txBody>
          <a:bodyPr wrap="square">
            <a:spAutoFit/>
          </a:bodyPr>
          <a:lstStyle/>
          <a:p>
            <a:pPr algn="l"/>
            <a:r>
              <a:rPr sz="1200" b="0" i="0">
                <a:solidFill>
                  <a:srgbClr val="595959"/>
                </a:solidFill>
                <a:latin typeface="Calibri"/>
              </a:rPr>
              <a:t>Correctivo cuesta 3-5x
más que preventivo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La Solución: Plan de Acción en 3 Fases</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Mayo → Diciembre 2026  ·  Meta: reducir KPI de 3.89% a ≤ 2.5%</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3 / 8</a:t>
            </a:r>
          </a:p>
        </p:txBody>
      </p:sp>
      <p:sp>
        <p:nvSpPr>
          <p:cNvPr id="10" name="Rectangle 9"/>
          <p:cNvSpPr/>
          <p:nvPr/>
        </p:nvSpPr>
        <p:spPr>
          <a:xfrm>
            <a:off x="320040" y="1234440"/>
            <a:ext cx="3520440" cy="5349240"/>
          </a:xfrm>
          <a:prstGeom prst="rect">
            <a:avLst/>
          </a:prstGeom>
          <a:solidFill>
            <a:srgbClr val="FFDCDC"/>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234440"/>
            <a:ext cx="3520440" cy="8686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271016"/>
            <a:ext cx="3337560" cy="320040"/>
          </a:xfrm>
          <a:prstGeom prst="rect">
            <a:avLst/>
          </a:prstGeom>
          <a:noFill/>
        </p:spPr>
        <p:txBody>
          <a:bodyPr wrap="square">
            <a:spAutoFit/>
          </a:bodyPr>
          <a:lstStyle/>
          <a:p>
            <a:pPr algn="l"/>
            <a:r>
              <a:rPr sz="1200" b="1" i="0">
                <a:solidFill>
                  <a:srgbClr val="FFFFFF"/>
                </a:solidFill>
                <a:latin typeface="Calibri"/>
              </a:rPr>
              <a:t>FASE 1</a:t>
            </a:r>
          </a:p>
        </p:txBody>
      </p:sp>
      <p:sp>
        <p:nvSpPr>
          <p:cNvPr id="13" name="TextBox 12"/>
          <p:cNvSpPr txBox="1"/>
          <p:nvPr/>
        </p:nvSpPr>
        <p:spPr>
          <a:xfrm>
            <a:off x="411480" y="1581912"/>
            <a:ext cx="3337560" cy="320040"/>
          </a:xfrm>
          <a:prstGeom prst="rect">
            <a:avLst/>
          </a:prstGeom>
          <a:noFill/>
        </p:spPr>
        <p:txBody>
          <a:bodyPr wrap="square">
            <a:spAutoFit/>
          </a:bodyPr>
          <a:lstStyle/>
          <a:p>
            <a:pPr algn="l"/>
            <a:r>
              <a:rPr sz="1600" b="1" i="0">
                <a:solidFill>
                  <a:srgbClr val="FFFFFF"/>
                </a:solidFill>
                <a:latin typeface="Calibri"/>
              </a:rPr>
              <a:t>ESTABILIZACIÓN</a:t>
            </a:r>
          </a:p>
        </p:txBody>
      </p:sp>
      <p:sp>
        <p:nvSpPr>
          <p:cNvPr id="14" name="TextBox 13"/>
          <p:cNvSpPr txBox="1"/>
          <p:nvPr/>
        </p:nvSpPr>
        <p:spPr>
          <a:xfrm>
            <a:off x="429768" y="2167128"/>
            <a:ext cx="3300984" cy="256032"/>
          </a:xfrm>
          <a:prstGeom prst="rect">
            <a:avLst/>
          </a:prstGeom>
          <a:noFill/>
        </p:spPr>
        <p:txBody>
          <a:bodyPr wrap="square">
            <a:spAutoFit/>
          </a:bodyPr>
          <a:lstStyle/>
          <a:p>
            <a:pPr algn="l"/>
            <a:r>
              <a:rPr sz="1100" b="1" i="0">
                <a:solidFill>
                  <a:srgbClr val="C00000"/>
                </a:solidFill>
                <a:latin typeface="Calibri"/>
              </a:rPr>
              <a:t>Mayo – Junio 2026</a:t>
            </a:r>
          </a:p>
        </p:txBody>
      </p:sp>
      <p:sp>
        <p:nvSpPr>
          <p:cNvPr id="15" name="TextBox 14"/>
          <p:cNvSpPr txBox="1"/>
          <p:nvPr/>
        </p:nvSpPr>
        <p:spPr>
          <a:xfrm>
            <a:off x="429768" y="2404872"/>
            <a:ext cx="3300984" cy="256032"/>
          </a:xfrm>
          <a:prstGeom prst="rect">
            <a:avLst/>
          </a:prstGeom>
          <a:noFill/>
        </p:spPr>
        <p:txBody>
          <a:bodyPr wrap="square">
            <a:spAutoFit/>
          </a:bodyPr>
          <a:lstStyle/>
          <a:p>
            <a:pPr algn="l"/>
            <a:r>
              <a:rPr sz="1100" b="0" i="1">
                <a:solidFill>
                  <a:srgbClr val="595959"/>
                </a:solidFill>
                <a:latin typeface="Calibri"/>
              </a:rPr>
              <a:t>Parar la hemorragia</a:t>
            </a:r>
          </a:p>
        </p:txBody>
      </p:sp>
      <p:sp>
        <p:nvSpPr>
          <p:cNvPr id="16" name="TextBox 15"/>
          <p:cNvSpPr txBox="1"/>
          <p:nvPr/>
        </p:nvSpPr>
        <p:spPr>
          <a:xfrm>
            <a:off x="429768" y="2743200"/>
            <a:ext cx="3300984" cy="502920"/>
          </a:xfrm>
          <a:prstGeom prst="rect">
            <a:avLst/>
          </a:prstGeom>
          <a:noFill/>
        </p:spPr>
        <p:txBody>
          <a:bodyPr wrap="square">
            <a:spAutoFit/>
          </a:bodyPr>
          <a:lstStyle/>
          <a:p>
            <a:pPr algn="l"/>
            <a:r>
              <a:rPr sz="1100" b="0" i="0">
                <a:solidFill>
                  <a:srgbClr val="000000"/>
                </a:solidFill>
                <a:latin typeface="Calibri"/>
              </a:rPr>
              <a:t>• Control de OT con aprobación escalonada</a:t>
            </a:r>
          </a:p>
        </p:txBody>
      </p:sp>
      <p:sp>
        <p:nvSpPr>
          <p:cNvPr id="17" name="TextBox 16"/>
          <p:cNvSpPr txBox="1"/>
          <p:nvPr/>
        </p:nvSpPr>
        <p:spPr>
          <a:xfrm>
            <a:off x="429768" y="3273552"/>
            <a:ext cx="3300984" cy="502920"/>
          </a:xfrm>
          <a:prstGeom prst="rect">
            <a:avLst/>
          </a:prstGeom>
          <a:noFill/>
        </p:spPr>
        <p:txBody>
          <a:bodyPr wrap="square">
            <a:spAutoFit/>
          </a:bodyPr>
          <a:lstStyle/>
          <a:p>
            <a:pPr algn="l"/>
            <a:r>
              <a:rPr sz="1100" b="0" i="0">
                <a:solidFill>
                  <a:srgbClr val="000000"/>
                </a:solidFill>
                <a:latin typeface="Calibri"/>
              </a:rPr>
              <a:t>  (&lt;$2M / &lt;$10M / Gerencia General)</a:t>
            </a:r>
          </a:p>
        </p:txBody>
      </p:sp>
      <p:sp>
        <p:nvSpPr>
          <p:cNvPr id="18" name="TextBox 17"/>
          <p:cNvSpPr txBox="1"/>
          <p:nvPr/>
        </p:nvSpPr>
        <p:spPr>
          <a:xfrm>
            <a:off x="429768" y="3803904"/>
            <a:ext cx="3300984" cy="502920"/>
          </a:xfrm>
          <a:prstGeom prst="rect">
            <a:avLst/>
          </a:prstGeom>
          <a:noFill/>
        </p:spPr>
        <p:txBody>
          <a:bodyPr wrap="square">
            <a:spAutoFit/>
          </a:bodyPr>
          <a:lstStyle/>
          <a:p>
            <a:pPr algn="l"/>
            <a:r>
              <a:rPr sz="1100" b="0" i="0">
                <a:solidFill>
                  <a:srgbClr val="000000"/>
                </a:solidFill>
                <a:latin typeface="Calibri"/>
              </a:rPr>
              <a:t>• Congelar personal temporal nuevo</a:t>
            </a:r>
          </a:p>
        </p:txBody>
      </p:sp>
      <p:sp>
        <p:nvSpPr>
          <p:cNvPr id="19" name="TextBox 18"/>
          <p:cNvSpPr txBox="1"/>
          <p:nvPr/>
        </p:nvSpPr>
        <p:spPr>
          <a:xfrm>
            <a:off x="429768" y="4334256"/>
            <a:ext cx="3300984" cy="502920"/>
          </a:xfrm>
          <a:prstGeom prst="rect">
            <a:avLst/>
          </a:prstGeom>
          <a:noFill/>
        </p:spPr>
        <p:txBody>
          <a:bodyPr wrap="square">
            <a:spAutoFit/>
          </a:bodyPr>
          <a:lstStyle/>
          <a:p>
            <a:pPr algn="l"/>
            <a:r>
              <a:rPr sz="1100" b="0" i="0">
                <a:solidFill>
                  <a:srgbClr val="000000"/>
                </a:solidFill>
                <a:latin typeface="Calibri"/>
              </a:rPr>
              <a:t>• Auditoría y conciliación $146.9M</a:t>
            </a:r>
          </a:p>
        </p:txBody>
      </p:sp>
      <p:sp>
        <p:nvSpPr>
          <p:cNvPr id="20" name="TextBox 19"/>
          <p:cNvSpPr txBox="1"/>
          <p:nvPr/>
        </p:nvSpPr>
        <p:spPr>
          <a:xfrm>
            <a:off x="429768" y="4864608"/>
            <a:ext cx="3300984" cy="502920"/>
          </a:xfrm>
          <a:prstGeom prst="rect">
            <a:avLst/>
          </a:prstGeom>
          <a:noFill/>
        </p:spPr>
        <p:txBody>
          <a:bodyPr wrap="square">
            <a:spAutoFit/>
          </a:bodyPr>
          <a:lstStyle/>
          <a:p>
            <a:pPr algn="l"/>
            <a:r>
              <a:rPr sz="1100" b="0" i="0">
                <a:solidFill>
                  <a:srgbClr val="000000"/>
                </a:solidFill>
                <a:latin typeface="Calibri"/>
              </a:rPr>
              <a:t>• Documentar retroactivo Abril</a:t>
            </a:r>
          </a:p>
        </p:txBody>
      </p:sp>
      <p:sp>
        <p:nvSpPr>
          <p:cNvPr id="21" name="Rectangle 20"/>
          <p:cNvSpPr/>
          <p:nvPr/>
        </p:nvSpPr>
        <p:spPr>
          <a:xfrm>
            <a:off x="429768" y="5989320"/>
            <a:ext cx="3300984" cy="43891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 y="6007608"/>
            <a:ext cx="3300984" cy="402336"/>
          </a:xfrm>
          <a:prstGeom prst="rect">
            <a:avLst/>
          </a:prstGeom>
          <a:noFill/>
        </p:spPr>
        <p:txBody>
          <a:bodyPr wrap="square">
            <a:spAutoFit/>
          </a:bodyPr>
          <a:lstStyle/>
          <a:p>
            <a:pPr algn="ctr"/>
            <a:r>
              <a:rPr sz="1400" b="1" i="0">
                <a:solidFill>
                  <a:srgbClr val="FFFFFF"/>
                </a:solidFill>
                <a:latin typeface="Calibri"/>
              </a:rPr>
              <a:t>Ahorro meta: $51.6M</a:t>
            </a:r>
          </a:p>
        </p:txBody>
      </p:sp>
      <p:sp>
        <p:nvSpPr>
          <p:cNvPr id="23" name="Rectangle 22"/>
          <p:cNvSpPr/>
          <p:nvPr/>
        </p:nvSpPr>
        <p:spPr>
          <a:xfrm>
            <a:off x="4114800" y="1234440"/>
            <a:ext cx="3520440" cy="5349240"/>
          </a:xfrm>
          <a:prstGeom prst="rect">
            <a:avLst/>
          </a:prstGeom>
          <a:solidFill>
            <a:srgbClr val="BDD7EE"/>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0" y="1234440"/>
            <a:ext cx="3520440" cy="8686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0" y="1271016"/>
            <a:ext cx="3337560" cy="320040"/>
          </a:xfrm>
          <a:prstGeom prst="rect">
            <a:avLst/>
          </a:prstGeom>
          <a:noFill/>
        </p:spPr>
        <p:txBody>
          <a:bodyPr wrap="square">
            <a:spAutoFit/>
          </a:bodyPr>
          <a:lstStyle/>
          <a:p>
            <a:pPr algn="l"/>
            <a:r>
              <a:rPr sz="1200" b="1" i="0">
                <a:solidFill>
                  <a:srgbClr val="FFFFFF"/>
                </a:solidFill>
                <a:latin typeface="Calibri"/>
              </a:rPr>
              <a:t>FASE 2</a:t>
            </a:r>
          </a:p>
        </p:txBody>
      </p:sp>
      <p:sp>
        <p:nvSpPr>
          <p:cNvPr id="26" name="TextBox 25"/>
          <p:cNvSpPr txBox="1"/>
          <p:nvPr/>
        </p:nvSpPr>
        <p:spPr>
          <a:xfrm>
            <a:off x="4206240" y="1581912"/>
            <a:ext cx="3337560" cy="320040"/>
          </a:xfrm>
          <a:prstGeom prst="rect">
            <a:avLst/>
          </a:prstGeom>
          <a:noFill/>
        </p:spPr>
        <p:txBody>
          <a:bodyPr wrap="square">
            <a:spAutoFit/>
          </a:bodyPr>
          <a:lstStyle/>
          <a:p>
            <a:pPr algn="l"/>
            <a:r>
              <a:rPr sz="1600" b="1" i="0">
                <a:solidFill>
                  <a:srgbClr val="FFFFFF"/>
                </a:solidFill>
                <a:latin typeface="Calibri"/>
              </a:rPr>
              <a:t>CONTROL</a:t>
            </a:r>
          </a:p>
        </p:txBody>
      </p:sp>
      <p:sp>
        <p:nvSpPr>
          <p:cNvPr id="27" name="TextBox 26"/>
          <p:cNvSpPr txBox="1"/>
          <p:nvPr/>
        </p:nvSpPr>
        <p:spPr>
          <a:xfrm>
            <a:off x="4224528" y="2167128"/>
            <a:ext cx="3300984" cy="256032"/>
          </a:xfrm>
          <a:prstGeom prst="rect">
            <a:avLst/>
          </a:prstGeom>
          <a:noFill/>
        </p:spPr>
        <p:txBody>
          <a:bodyPr wrap="square">
            <a:spAutoFit/>
          </a:bodyPr>
          <a:lstStyle/>
          <a:p>
            <a:pPr algn="l"/>
            <a:r>
              <a:rPr sz="1100" b="1" i="0">
                <a:solidFill>
                  <a:srgbClr val="2E75B6"/>
                </a:solidFill>
                <a:latin typeface="Calibri"/>
              </a:rPr>
              <a:t>Julio – Septiembre 2026</a:t>
            </a:r>
          </a:p>
        </p:txBody>
      </p:sp>
      <p:sp>
        <p:nvSpPr>
          <p:cNvPr id="28" name="TextBox 27"/>
          <p:cNvSpPr txBox="1"/>
          <p:nvPr/>
        </p:nvSpPr>
        <p:spPr>
          <a:xfrm>
            <a:off x="4224528" y="2404872"/>
            <a:ext cx="3300984" cy="256032"/>
          </a:xfrm>
          <a:prstGeom prst="rect">
            <a:avLst/>
          </a:prstGeom>
          <a:noFill/>
        </p:spPr>
        <p:txBody>
          <a:bodyPr wrap="square">
            <a:spAutoFit/>
          </a:bodyPr>
          <a:lstStyle/>
          <a:p>
            <a:pPr algn="l"/>
            <a:r>
              <a:rPr sz="1100" b="0" i="1">
                <a:solidFill>
                  <a:srgbClr val="595959"/>
                </a:solidFill>
                <a:latin typeface="Calibri"/>
              </a:rPr>
              <a:t>Reducir correctivo al 45%</a:t>
            </a:r>
          </a:p>
        </p:txBody>
      </p:sp>
      <p:sp>
        <p:nvSpPr>
          <p:cNvPr id="29" name="TextBox 28"/>
          <p:cNvSpPr txBox="1"/>
          <p:nvPr/>
        </p:nvSpPr>
        <p:spPr>
          <a:xfrm>
            <a:off x="4224528" y="2743200"/>
            <a:ext cx="3300984" cy="502920"/>
          </a:xfrm>
          <a:prstGeom prst="rect">
            <a:avLst/>
          </a:prstGeom>
          <a:noFill/>
        </p:spPr>
        <p:txBody>
          <a:bodyPr wrap="square">
            <a:spAutoFit/>
          </a:bodyPr>
          <a:lstStyle/>
          <a:p>
            <a:pPr algn="l"/>
            <a:r>
              <a:rPr sz="1100" b="0" i="0">
                <a:solidFill>
                  <a:srgbClr val="000000"/>
                </a:solidFill>
                <a:latin typeface="Calibri"/>
              </a:rPr>
              <a:t>• Contratos anuales 5 proveedores (-12%)</a:t>
            </a:r>
          </a:p>
        </p:txBody>
      </p:sp>
      <p:sp>
        <p:nvSpPr>
          <p:cNvPr id="30" name="TextBox 29"/>
          <p:cNvSpPr txBox="1"/>
          <p:nvPr/>
        </p:nvSpPr>
        <p:spPr>
          <a:xfrm>
            <a:off x="4224528" y="3273552"/>
            <a:ext cx="3300984" cy="502920"/>
          </a:xfrm>
          <a:prstGeom prst="rect">
            <a:avLst/>
          </a:prstGeom>
          <a:noFill/>
        </p:spPr>
        <p:txBody>
          <a:bodyPr wrap="square">
            <a:spAutoFit/>
          </a:bodyPr>
          <a:lstStyle/>
          <a:p>
            <a:pPr algn="l"/>
            <a:r>
              <a:rPr sz="1100" b="0" i="0">
                <a:solidFill>
                  <a:srgbClr val="000000"/>
                </a:solidFill>
                <a:latin typeface="Calibri"/>
              </a:rPr>
              <a:t>  Tornifer, Maquitec, Optimoldes...</a:t>
            </a:r>
          </a:p>
        </p:txBody>
      </p:sp>
      <p:sp>
        <p:nvSpPr>
          <p:cNvPr id="31" name="TextBox 30"/>
          <p:cNvSpPr txBox="1"/>
          <p:nvPr/>
        </p:nvSpPr>
        <p:spPr>
          <a:xfrm>
            <a:off x="4224528" y="3803904"/>
            <a:ext cx="3300984" cy="502920"/>
          </a:xfrm>
          <a:prstGeom prst="rect">
            <a:avLst/>
          </a:prstGeom>
          <a:noFill/>
        </p:spPr>
        <p:txBody>
          <a:bodyPr wrap="square">
            <a:spAutoFit/>
          </a:bodyPr>
          <a:lstStyle/>
          <a:p>
            <a:pPr algn="l"/>
            <a:r>
              <a:rPr sz="1100" b="0" i="0">
                <a:solidFill>
                  <a:srgbClr val="000000"/>
                </a:solidFill>
                <a:latin typeface="Calibri"/>
              </a:rPr>
              <a:t>• Stock mínimo repuestos críticos ($45M)</a:t>
            </a:r>
          </a:p>
        </p:txBody>
      </p:sp>
      <p:sp>
        <p:nvSpPr>
          <p:cNvPr id="32" name="TextBox 31"/>
          <p:cNvSpPr txBox="1"/>
          <p:nvPr/>
        </p:nvSpPr>
        <p:spPr>
          <a:xfrm>
            <a:off x="4224528" y="4334256"/>
            <a:ext cx="3300984" cy="502920"/>
          </a:xfrm>
          <a:prstGeom prst="rect">
            <a:avLst/>
          </a:prstGeom>
          <a:noFill/>
        </p:spPr>
        <p:txBody>
          <a:bodyPr wrap="square">
            <a:spAutoFit/>
          </a:bodyPr>
          <a:lstStyle/>
          <a:p>
            <a:pPr algn="l"/>
            <a:r>
              <a:rPr sz="1100" b="0" i="0">
                <a:solidFill>
                  <a:srgbClr val="000000"/>
                </a:solidFill>
                <a:latin typeface="Calibri"/>
              </a:rPr>
              <a:t>• Plan Maestro Mantenimiento Preventivo</a:t>
            </a:r>
          </a:p>
        </p:txBody>
      </p:sp>
      <p:sp>
        <p:nvSpPr>
          <p:cNvPr id="33" name="TextBox 32"/>
          <p:cNvSpPr txBox="1"/>
          <p:nvPr/>
        </p:nvSpPr>
        <p:spPr>
          <a:xfrm>
            <a:off x="4224528" y="4864608"/>
            <a:ext cx="3300984" cy="502920"/>
          </a:xfrm>
          <a:prstGeom prst="rect">
            <a:avLst/>
          </a:prstGeom>
          <a:noFill/>
        </p:spPr>
        <p:txBody>
          <a:bodyPr wrap="square">
            <a:spAutoFit/>
          </a:bodyPr>
          <a:lstStyle/>
          <a:p>
            <a:pPr algn="l"/>
            <a:r>
              <a:rPr sz="1100" b="0" i="0">
                <a:solidFill>
                  <a:srgbClr val="000000"/>
                </a:solidFill>
                <a:latin typeface="Calibri"/>
              </a:rPr>
              <a:t>• Gestión anticíclica inyección marzo</a:t>
            </a:r>
          </a:p>
        </p:txBody>
      </p:sp>
      <p:sp>
        <p:nvSpPr>
          <p:cNvPr id="34" name="Rectangle 33"/>
          <p:cNvSpPr/>
          <p:nvPr/>
        </p:nvSpPr>
        <p:spPr>
          <a:xfrm>
            <a:off x="4224528" y="5989320"/>
            <a:ext cx="3300984" cy="43891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24528" y="6007608"/>
            <a:ext cx="3300984" cy="402336"/>
          </a:xfrm>
          <a:prstGeom prst="rect">
            <a:avLst/>
          </a:prstGeom>
          <a:noFill/>
        </p:spPr>
        <p:txBody>
          <a:bodyPr wrap="square">
            <a:spAutoFit/>
          </a:bodyPr>
          <a:lstStyle/>
          <a:p>
            <a:pPr algn="ctr"/>
            <a:r>
              <a:rPr sz="1400" b="1" i="0">
                <a:solidFill>
                  <a:srgbClr val="FFFFFF"/>
                </a:solidFill>
                <a:latin typeface="Calibri"/>
              </a:rPr>
              <a:t>Ahorro meta: $88.7M</a:t>
            </a:r>
          </a:p>
        </p:txBody>
      </p:sp>
      <p:sp>
        <p:nvSpPr>
          <p:cNvPr id="36" name="Rectangle 35"/>
          <p:cNvSpPr/>
          <p:nvPr/>
        </p:nvSpPr>
        <p:spPr>
          <a:xfrm>
            <a:off x="7909560" y="1234440"/>
            <a:ext cx="3520440" cy="5349240"/>
          </a:xfrm>
          <a:prstGeom prst="rect">
            <a:avLst/>
          </a:prstGeom>
          <a:solidFill>
            <a:srgbClr val="E2EFDA"/>
          </a:solidFill>
          <a:ln w="25400">
            <a:solidFill>
              <a:srgbClr val="375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909560" y="1234440"/>
            <a:ext cx="3520440" cy="868680"/>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01000" y="1271016"/>
            <a:ext cx="3337560" cy="320040"/>
          </a:xfrm>
          <a:prstGeom prst="rect">
            <a:avLst/>
          </a:prstGeom>
          <a:noFill/>
        </p:spPr>
        <p:txBody>
          <a:bodyPr wrap="square">
            <a:spAutoFit/>
          </a:bodyPr>
          <a:lstStyle/>
          <a:p>
            <a:pPr algn="l"/>
            <a:r>
              <a:rPr sz="1200" b="1" i="0">
                <a:solidFill>
                  <a:srgbClr val="FFFFFF"/>
                </a:solidFill>
                <a:latin typeface="Calibri"/>
              </a:rPr>
              <a:t>FASE 3</a:t>
            </a:r>
          </a:p>
        </p:txBody>
      </p:sp>
      <p:sp>
        <p:nvSpPr>
          <p:cNvPr id="39" name="TextBox 38"/>
          <p:cNvSpPr txBox="1"/>
          <p:nvPr/>
        </p:nvSpPr>
        <p:spPr>
          <a:xfrm>
            <a:off x="8001000" y="1581912"/>
            <a:ext cx="3337560" cy="320040"/>
          </a:xfrm>
          <a:prstGeom prst="rect">
            <a:avLst/>
          </a:prstGeom>
          <a:noFill/>
        </p:spPr>
        <p:txBody>
          <a:bodyPr wrap="square">
            <a:spAutoFit/>
          </a:bodyPr>
          <a:lstStyle/>
          <a:p>
            <a:pPr algn="l"/>
            <a:r>
              <a:rPr sz="1600" b="1" i="0">
                <a:solidFill>
                  <a:srgbClr val="FFFFFF"/>
                </a:solidFill>
                <a:latin typeface="Calibri"/>
              </a:rPr>
              <a:t>TRANSFORMACIÓN</a:t>
            </a:r>
          </a:p>
        </p:txBody>
      </p:sp>
      <p:sp>
        <p:nvSpPr>
          <p:cNvPr id="40" name="TextBox 39"/>
          <p:cNvSpPr txBox="1"/>
          <p:nvPr/>
        </p:nvSpPr>
        <p:spPr>
          <a:xfrm>
            <a:off x="8019288" y="2167128"/>
            <a:ext cx="3300984" cy="256032"/>
          </a:xfrm>
          <a:prstGeom prst="rect">
            <a:avLst/>
          </a:prstGeom>
          <a:noFill/>
        </p:spPr>
        <p:txBody>
          <a:bodyPr wrap="square">
            <a:spAutoFit/>
          </a:bodyPr>
          <a:lstStyle/>
          <a:p>
            <a:pPr algn="l"/>
            <a:r>
              <a:rPr sz="1100" b="1" i="0">
                <a:solidFill>
                  <a:srgbClr val="375623"/>
                </a:solidFill>
                <a:latin typeface="Calibri"/>
              </a:rPr>
              <a:t>Oct – Diciembre 2026</a:t>
            </a:r>
          </a:p>
        </p:txBody>
      </p:sp>
      <p:sp>
        <p:nvSpPr>
          <p:cNvPr id="41" name="TextBox 40"/>
          <p:cNvSpPr txBox="1"/>
          <p:nvPr/>
        </p:nvSpPr>
        <p:spPr>
          <a:xfrm>
            <a:off x="8019288" y="2404872"/>
            <a:ext cx="3300984" cy="256032"/>
          </a:xfrm>
          <a:prstGeom prst="rect">
            <a:avLst/>
          </a:prstGeom>
          <a:noFill/>
        </p:spPr>
        <p:txBody>
          <a:bodyPr wrap="square">
            <a:spAutoFit/>
          </a:bodyPr>
          <a:lstStyle/>
          <a:p>
            <a:pPr algn="l"/>
            <a:r>
              <a:rPr sz="1100" b="0" i="1">
                <a:solidFill>
                  <a:srgbClr val="595959"/>
                </a:solidFill>
                <a:latin typeface="Calibri"/>
              </a:rPr>
              <a:t>Cultura preventiva ≥ 60%</a:t>
            </a:r>
          </a:p>
        </p:txBody>
      </p:sp>
      <p:sp>
        <p:nvSpPr>
          <p:cNvPr id="42" name="TextBox 41"/>
          <p:cNvSpPr txBox="1"/>
          <p:nvPr/>
        </p:nvSpPr>
        <p:spPr>
          <a:xfrm>
            <a:off x="8019288" y="2743200"/>
            <a:ext cx="3300984" cy="502920"/>
          </a:xfrm>
          <a:prstGeom prst="rect">
            <a:avLst/>
          </a:prstGeom>
          <a:noFill/>
        </p:spPr>
        <p:txBody>
          <a:bodyPr wrap="square">
            <a:spAutoFit/>
          </a:bodyPr>
          <a:lstStyle/>
          <a:p>
            <a:pPr algn="l"/>
            <a:r>
              <a:rPr sz="1100" b="0" i="0">
                <a:solidFill>
                  <a:srgbClr val="000000"/>
                </a:solidFill>
                <a:latin typeface="Calibri"/>
              </a:rPr>
              <a:t>• Implementar CMMS / módulo PM en ERP</a:t>
            </a:r>
          </a:p>
        </p:txBody>
      </p:sp>
      <p:sp>
        <p:nvSpPr>
          <p:cNvPr id="43" name="TextBox 42"/>
          <p:cNvSpPr txBox="1"/>
          <p:nvPr/>
        </p:nvSpPr>
        <p:spPr>
          <a:xfrm>
            <a:off x="8019288" y="3273552"/>
            <a:ext cx="3300984" cy="502920"/>
          </a:xfrm>
          <a:prstGeom prst="rect">
            <a:avLst/>
          </a:prstGeom>
          <a:noFill/>
        </p:spPr>
        <p:txBody>
          <a:bodyPr wrap="square">
            <a:spAutoFit/>
          </a:bodyPr>
          <a:lstStyle/>
          <a:p>
            <a:pPr algn="l"/>
            <a:r>
              <a:rPr sz="1100" b="0" i="0">
                <a:solidFill>
                  <a:srgbClr val="000000"/>
                </a:solidFill>
                <a:latin typeface="Calibri"/>
              </a:rPr>
              <a:t>• Redimensionar nómina fija vs. temporal</a:t>
            </a:r>
          </a:p>
        </p:txBody>
      </p:sp>
      <p:sp>
        <p:nvSpPr>
          <p:cNvPr id="44" name="TextBox 43"/>
          <p:cNvSpPr txBox="1"/>
          <p:nvPr/>
        </p:nvSpPr>
        <p:spPr>
          <a:xfrm>
            <a:off x="8019288" y="3803904"/>
            <a:ext cx="3300984" cy="502920"/>
          </a:xfrm>
          <a:prstGeom prst="rect">
            <a:avLst/>
          </a:prstGeom>
          <a:noFill/>
        </p:spPr>
        <p:txBody>
          <a:bodyPr wrap="square">
            <a:spAutoFit/>
          </a:bodyPr>
          <a:lstStyle/>
          <a:p>
            <a:pPr algn="l"/>
            <a:r>
              <a:rPr sz="1100" b="0" i="0">
                <a:solidFill>
                  <a:srgbClr val="000000"/>
                </a:solidFill>
                <a:latin typeface="Calibri"/>
              </a:rPr>
              <a:t>• Presupuesto Base Cero 2027</a:t>
            </a:r>
          </a:p>
        </p:txBody>
      </p:sp>
      <p:sp>
        <p:nvSpPr>
          <p:cNvPr id="45" name="TextBox 44"/>
          <p:cNvSpPr txBox="1"/>
          <p:nvPr/>
        </p:nvSpPr>
        <p:spPr>
          <a:xfrm>
            <a:off x="8019288" y="4334256"/>
            <a:ext cx="3300984" cy="502920"/>
          </a:xfrm>
          <a:prstGeom prst="rect">
            <a:avLst/>
          </a:prstGeom>
          <a:noFill/>
        </p:spPr>
        <p:txBody>
          <a:bodyPr wrap="square">
            <a:spAutoFit/>
          </a:bodyPr>
          <a:lstStyle/>
          <a:p>
            <a:pPr algn="l"/>
            <a:r>
              <a:rPr sz="1100" b="0" i="0">
                <a:solidFill>
                  <a:srgbClr val="000000"/>
                </a:solidFill>
                <a:latin typeface="Calibri"/>
              </a:rPr>
              <a:t>• % Preventivo ≥ 60% consolidado</a:t>
            </a:r>
          </a:p>
        </p:txBody>
      </p:sp>
      <p:sp>
        <p:nvSpPr>
          <p:cNvPr id="46" name="Rectangle 45"/>
          <p:cNvSpPr/>
          <p:nvPr/>
        </p:nvSpPr>
        <p:spPr>
          <a:xfrm>
            <a:off x="8019288" y="5989320"/>
            <a:ext cx="3300984" cy="438912"/>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19288" y="6007608"/>
            <a:ext cx="3300984" cy="402336"/>
          </a:xfrm>
          <a:prstGeom prst="rect">
            <a:avLst/>
          </a:prstGeom>
          <a:noFill/>
        </p:spPr>
        <p:txBody>
          <a:bodyPr wrap="square">
            <a:spAutoFit/>
          </a:bodyPr>
          <a:lstStyle/>
          <a:p>
            <a:pPr algn="ctr"/>
            <a:r>
              <a:rPr sz="1400" b="1" i="0">
                <a:solidFill>
                  <a:srgbClr val="FFFFFF"/>
                </a:solidFill>
                <a:latin typeface="Calibri"/>
              </a:rPr>
              <a:t>Ahorro meta: $25M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Proyección Financiera: Sin Plan vs. Con Plan</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Trayectoria mensual Mayo–Diciembre 2026  ·  COP Millones</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4 / 8</a:t>
            </a:r>
          </a:p>
        </p:txBody>
      </p:sp>
      <p:sp>
        <p:nvSpPr>
          <p:cNvPr id="10" name="Rectangle 9"/>
          <p:cNvSpPr/>
          <p:nvPr/>
        </p:nvSpPr>
        <p:spPr>
          <a:xfrm>
            <a:off x="320040" y="1298448"/>
            <a:ext cx="182880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 y="1344168"/>
            <a:ext cx="1755648" cy="274320"/>
          </a:xfrm>
          <a:prstGeom prst="rect">
            <a:avLst/>
          </a:prstGeom>
          <a:noFill/>
        </p:spPr>
        <p:txBody>
          <a:bodyPr wrap="square">
            <a:spAutoFit/>
          </a:bodyPr>
          <a:lstStyle/>
          <a:p>
            <a:pPr algn="ctr"/>
            <a:r>
              <a:rPr sz="1100" b="1" i="0">
                <a:solidFill>
                  <a:srgbClr val="FFFFFF"/>
                </a:solidFill>
                <a:latin typeface="Calibri"/>
              </a:rPr>
              <a:t>Escenario</a:t>
            </a:r>
          </a:p>
        </p:txBody>
      </p:sp>
      <p:sp>
        <p:nvSpPr>
          <p:cNvPr id="12" name="Rectangle 11"/>
          <p:cNvSpPr/>
          <p:nvPr/>
        </p:nvSpPr>
        <p:spPr>
          <a:xfrm>
            <a:off x="214884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85416" y="1344168"/>
            <a:ext cx="761238" cy="274320"/>
          </a:xfrm>
          <a:prstGeom prst="rect">
            <a:avLst/>
          </a:prstGeom>
          <a:noFill/>
        </p:spPr>
        <p:txBody>
          <a:bodyPr wrap="square">
            <a:spAutoFit/>
          </a:bodyPr>
          <a:lstStyle/>
          <a:p>
            <a:pPr algn="ctr"/>
            <a:r>
              <a:rPr sz="1100" b="1" i="0">
                <a:solidFill>
                  <a:srgbClr val="FFFFFF"/>
                </a:solidFill>
                <a:latin typeface="Calibri"/>
              </a:rPr>
              <a:t>Mayo</a:t>
            </a:r>
          </a:p>
        </p:txBody>
      </p:sp>
      <p:sp>
        <p:nvSpPr>
          <p:cNvPr id="14" name="Rectangle 13"/>
          <p:cNvSpPr/>
          <p:nvPr/>
        </p:nvSpPr>
        <p:spPr>
          <a:xfrm>
            <a:off x="298323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9806" y="1344168"/>
            <a:ext cx="761238" cy="274320"/>
          </a:xfrm>
          <a:prstGeom prst="rect">
            <a:avLst/>
          </a:prstGeom>
          <a:noFill/>
        </p:spPr>
        <p:txBody>
          <a:bodyPr wrap="square">
            <a:spAutoFit/>
          </a:bodyPr>
          <a:lstStyle/>
          <a:p>
            <a:pPr algn="ctr"/>
            <a:r>
              <a:rPr sz="1100" b="1" i="0">
                <a:solidFill>
                  <a:srgbClr val="FFFFFF"/>
                </a:solidFill>
                <a:latin typeface="Calibri"/>
              </a:rPr>
              <a:t>Junio</a:t>
            </a:r>
          </a:p>
        </p:txBody>
      </p:sp>
      <p:sp>
        <p:nvSpPr>
          <p:cNvPr id="16" name="Rectangle 15"/>
          <p:cNvSpPr/>
          <p:nvPr/>
        </p:nvSpPr>
        <p:spPr>
          <a:xfrm>
            <a:off x="381762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54196" y="1344168"/>
            <a:ext cx="761238" cy="274320"/>
          </a:xfrm>
          <a:prstGeom prst="rect">
            <a:avLst/>
          </a:prstGeom>
          <a:noFill/>
        </p:spPr>
        <p:txBody>
          <a:bodyPr wrap="square">
            <a:spAutoFit/>
          </a:bodyPr>
          <a:lstStyle/>
          <a:p>
            <a:pPr algn="ctr"/>
            <a:r>
              <a:rPr sz="1100" b="1" i="0">
                <a:solidFill>
                  <a:srgbClr val="FFFFFF"/>
                </a:solidFill>
                <a:latin typeface="Calibri"/>
              </a:rPr>
              <a:t>Julio</a:t>
            </a:r>
          </a:p>
        </p:txBody>
      </p:sp>
      <p:sp>
        <p:nvSpPr>
          <p:cNvPr id="18" name="Rectangle 17"/>
          <p:cNvSpPr/>
          <p:nvPr/>
        </p:nvSpPr>
        <p:spPr>
          <a:xfrm>
            <a:off x="465201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88586" y="1344168"/>
            <a:ext cx="761238" cy="274320"/>
          </a:xfrm>
          <a:prstGeom prst="rect">
            <a:avLst/>
          </a:prstGeom>
          <a:noFill/>
        </p:spPr>
        <p:txBody>
          <a:bodyPr wrap="square">
            <a:spAutoFit/>
          </a:bodyPr>
          <a:lstStyle/>
          <a:p>
            <a:pPr algn="ctr"/>
            <a:r>
              <a:rPr sz="1100" b="1" i="0">
                <a:solidFill>
                  <a:srgbClr val="FFFFFF"/>
                </a:solidFill>
                <a:latin typeface="Calibri"/>
              </a:rPr>
              <a:t>Ago.</a:t>
            </a:r>
          </a:p>
        </p:txBody>
      </p:sp>
      <p:sp>
        <p:nvSpPr>
          <p:cNvPr id="20" name="Rectangle 19"/>
          <p:cNvSpPr/>
          <p:nvPr/>
        </p:nvSpPr>
        <p:spPr>
          <a:xfrm>
            <a:off x="548640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22976" y="1344168"/>
            <a:ext cx="761238" cy="274320"/>
          </a:xfrm>
          <a:prstGeom prst="rect">
            <a:avLst/>
          </a:prstGeom>
          <a:noFill/>
        </p:spPr>
        <p:txBody>
          <a:bodyPr wrap="square">
            <a:spAutoFit/>
          </a:bodyPr>
          <a:lstStyle/>
          <a:p>
            <a:pPr algn="ctr"/>
            <a:r>
              <a:rPr sz="1100" b="1" i="0">
                <a:solidFill>
                  <a:srgbClr val="FFFFFF"/>
                </a:solidFill>
                <a:latin typeface="Calibri"/>
              </a:rPr>
              <a:t>Sep.</a:t>
            </a:r>
          </a:p>
        </p:txBody>
      </p:sp>
      <p:sp>
        <p:nvSpPr>
          <p:cNvPr id="22" name="Rectangle 21"/>
          <p:cNvSpPr/>
          <p:nvPr/>
        </p:nvSpPr>
        <p:spPr>
          <a:xfrm>
            <a:off x="632079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7366" y="1344168"/>
            <a:ext cx="761238" cy="274320"/>
          </a:xfrm>
          <a:prstGeom prst="rect">
            <a:avLst/>
          </a:prstGeom>
          <a:noFill/>
        </p:spPr>
        <p:txBody>
          <a:bodyPr wrap="square">
            <a:spAutoFit/>
          </a:bodyPr>
          <a:lstStyle/>
          <a:p>
            <a:pPr algn="ctr"/>
            <a:r>
              <a:rPr sz="1100" b="1" i="0">
                <a:solidFill>
                  <a:srgbClr val="FFFFFF"/>
                </a:solidFill>
                <a:latin typeface="Calibri"/>
              </a:rPr>
              <a:t>Oct.</a:t>
            </a:r>
          </a:p>
        </p:txBody>
      </p:sp>
      <p:sp>
        <p:nvSpPr>
          <p:cNvPr id="24" name="Rectangle 23"/>
          <p:cNvSpPr/>
          <p:nvPr/>
        </p:nvSpPr>
        <p:spPr>
          <a:xfrm>
            <a:off x="715518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91756" y="1344168"/>
            <a:ext cx="761238" cy="274320"/>
          </a:xfrm>
          <a:prstGeom prst="rect">
            <a:avLst/>
          </a:prstGeom>
          <a:noFill/>
        </p:spPr>
        <p:txBody>
          <a:bodyPr wrap="square">
            <a:spAutoFit/>
          </a:bodyPr>
          <a:lstStyle/>
          <a:p>
            <a:pPr algn="ctr"/>
            <a:r>
              <a:rPr sz="1100" b="1" i="0">
                <a:solidFill>
                  <a:srgbClr val="FFFFFF"/>
                </a:solidFill>
                <a:latin typeface="Calibri"/>
              </a:rPr>
              <a:t>Nov.</a:t>
            </a:r>
          </a:p>
        </p:txBody>
      </p:sp>
      <p:sp>
        <p:nvSpPr>
          <p:cNvPr id="26" name="Rectangle 25"/>
          <p:cNvSpPr/>
          <p:nvPr/>
        </p:nvSpPr>
        <p:spPr>
          <a:xfrm>
            <a:off x="7989570" y="1298448"/>
            <a:ext cx="834390" cy="34747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6146" y="1344168"/>
            <a:ext cx="761238" cy="274320"/>
          </a:xfrm>
          <a:prstGeom prst="rect">
            <a:avLst/>
          </a:prstGeom>
          <a:noFill/>
        </p:spPr>
        <p:txBody>
          <a:bodyPr wrap="square">
            <a:spAutoFit/>
          </a:bodyPr>
          <a:lstStyle/>
          <a:p>
            <a:pPr algn="ctr"/>
            <a:r>
              <a:rPr sz="1100" b="1" i="0">
                <a:solidFill>
                  <a:srgbClr val="FFFFFF"/>
                </a:solidFill>
                <a:latin typeface="Calibri"/>
              </a:rPr>
              <a:t>Dic.</a:t>
            </a:r>
          </a:p>
        </p:txBody>
      </p:sp>
      <p:sp>
        <p:nvSpPr>
          <p:cNvPr id="28" name="Rectangle 27"/>
          <p:cNvSpPr/>
          <p:nvPr/>
        </p:nvSpPr>
        <p:spPr>
          <a:xfrm>
            <a:off x="320040" y="1645920"/>
            <a:ext cx="182880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6" y="1719072"/>
            <a:ext cx="1755648" cy="310896"/>
          </a:xfrm>
          <a:prstGeom prst="rect">
            <a:avLst/>
          </a:prstGeom>
          <a:noFill/>
        </p:spPr>
        <p:txBody>
          <a:bodyPr wrap="square">
            <a:spAutoFit/>
          </a:bodyPr>
          <a:lstStyle/>
          <a:p>
            <a:pPr algn="ctr"/>
            <a:r>
              <a:rPr sz="1100" b="1" i="0">
                <a:solidFill>
                  <a:srgbClr val="C00000"/>
                </a:solidFill>
                <a:latin typeface="Calibri"/>
              </a:rPr>
              <a:t>Sin Plan</a:t>
            </a:r>
          </a:p>
        </p:txBody>
      </p:sp>
      <p:sp>
        <p:nvSpPr>
          <p:cNvPr id="30" name="Rectangle 29"/>
          <p:cNvSpPr/>
          <p:nvPr/>
        </p:nvSpPr>
        <p:spPr>
          <a:xfrm>
            <a:off x="214884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85416" y="1719072"/>
            <a:ext cx="761238" cy="310896"/>
          </a:xfrm>
          <a:prstGeom prst="rect">
            <a:avLst/>
          </a:prstGeom>
          <a:noFill/>
        </p:spPr>
        <p:txBody>
          <a:bodyPr wrap="square">
            <a:spAutoFit/>
          </a:bodyPr>
          <a:lstStyle/>
          <a:p>
            <a:pPr algn="ctr"/>
            <a:r>
              <a:rPr sz="1100" b="0" i="0">
                <a:solidFill>
                  <a:srgbClr val="C00000"/>
                </a:solidFill>
                <a:latin typeface="Calibri"/>
              </a:rPr>
              <a:t>$81.1M</a:t>
            </a:r>
          </a:p>
        </p:txBody>
      </p:sp>
      <p:sp>
        <p:nvSpPr>
          <p:cNvPr id="32" name="Rectangle 31"/>
          <p:cNvSpPr/>
          <p:nvPr/>
        </p:nvSpPr>
        <p:spPr>
          <a:xfrm>
            <a:off x="298323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19806" y="1719072"/>
            <a:ext cx="761238" cy="310896"/>
          </a:xfrm>
          <a:prstGeom prst="rect">
            <a:avLst/>
          </a:prstGeom>
          <a:noFill/>
        </p:spPr>
        <p:txBody>
          <a:bodyPr wrap="square">
            <a:spAutoFit/>
          </a:bodyPr>
          <a:lstStyle/>
          <a:p>
            <a:pPr algn="ctr"/>
            <a:r>
              <a:rPr sz="1100" b="0" i="0">
                <a:solidFill>
                  <a:srgbClr val="C00000"/>
                </a:solidFill>
                <a:latin typeface="Calibri"/>
              </a:rPr>
              <a:t>$75.7M</a:t>
            </a:r>
          </a:p>
        </p:txBody>
      </p:sp>
      <p:sp>
        <p:nvSpPr>
          <p:cNvPr id="34" name="Rectangle 33"/>
          <p:cNvSpPr/>
          <p:nvPr/>
        </p:nvSpPr>
        <p:spPr>
          <a:xfrm>
            <a:off x="381762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54196" y="1719072"/>
            <a:ext cx="761238" cy="310896"/>
          </a:xfrm>
          <a:prstGeom prst="rect">
            <a:avLst/>
          </a:prstGeom>
          <a:noFill/>
        </p:spPr>
        <p:txBody>
          <a:bodyPr wrap="square">
            <a:spAutoFit/>
          </a:bodyPr>
          <a:lstStyle/>
          <a:p>
            <a:pPr algn="ctr"/>
            <a:r>
              <a:rPr sz="1100" b="0" i="0">
                <a:solidFill>
                  <a:srgbClr val="C00000"/>
                </a:solidFill>
                <a:latin typeface="Calibri"/>
              </a:rPr>
              <a:t>$92.7M</a:t>
            </a:r>
          </a:p>
        </p:txBody>
      </p:sp>
      <p:sp>
        <p:nvSpPr>
          <p:cNvPr id="36" name="Rectangle 35"/>
          <p:cNvSpPr/>
          <p:nvPr/>
        </p:nvSpPr>
        <p:spPr>
          <a:xfrm>
            <a:off x="465201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88586" y="1719072"/>
            <a:ext cx="761238" cy="310896"/>
          </a:xfrm>
          <a:prstGeom prst="rect">
            <a:avLst/>
          </a:prstGeom>
          <a:noFill/>
        </p:spPr>
        <p:txBody>
          <a:bodyPr wrap="square">
            <a:spAutoFit/>
          </a:bodyPr>
          <a:lstStyle/>
          <a:p>
            <a:pPr algn="ctr"/>
            <a:r>
              <a:rPr sz="1100" b="0" i="0">
                <a:solidFill>
                  <a:srgbClr val="C00000"/>
                </a:solidFill>
                <a:latin typeface="Calibri"/>
              </a:rPr>
              <a:t>$89.6M</a:t>
            </a:r>
          </a:p>
        </p:txBody>
      </p:sp>
      <p:sp>
        <p:nvSpPr>
          <p:cNvPr id="38" name="Rectangle 37"/>
          <p:cNvSpPr/>
          <p:nvPr/>
        </p:nvSpPr>
        <p:spPr>
          <a:xfrm>
            <a:off x="548640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22976" y="1719072"/>
            <a:ext cx="761238" cy="310896"/>
          </a:xfrm>
          <a:prstGeom prst="rect">
            <a:avLst/>
          </a:prstGeom>
          <a:noFill/>
        </p:spPr>
        <p:txBody>
          <a:bodyPr wrap="square">
            <a:spAutoFit/>
          </a:bodyPr>
          <a:lstStyle/>
          <a:p>
            <a:pPr algn="ctr"/>
            <a:r>
              <a:rPr sz="1100" b="0" i="0">
                <a:solidFill>
                  <a:srgbClr val="C00000"/>
                </a:solidFill>
                <a:latin typeface="Calibri"/>
              </a:rPr>
              <a:t>$84.6M</a:t>
            </a:r>
          </a:p>
        </p:txBody>
      </p:sp>
      <p:sp>
        <p:nvSpPr>
          <p:cNvPr id="40" name="Rectangle 39"/>
          <p:cNvSpPr/>
          <p:nvPr/>
        </p:nvSpPr>
        <p:spPr>
          <a:xfrm>
            <a:off x="632079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7366" y="1719072"/>
            <a:ext cx="761238" cy="310896"/>
          </a:xfrm>
          <a:prstGeom prst="rect">
            <a:avLst/>
          </a:prstGeom>
          <a:noFill/>
        </p:spPr>
        <p:txBody>
          <a:bodyPr wrap="square">
            <a:spAutoFit/>
          </a:bodyPr>
          <a:lstStyle/>
          <a:p>
            <a:pPr algn="ctr"/>
            <a:r>
              <a:rPr sz="1100" b="0" i="0">
                <a:solidFill>
                  <a:srgbClr val="C00000"/>
                </a:solidFill>
                <a:latin typeface="Calibri"/>
              </a:rPr>
              <a:t>$78.5M</a:t>
            </a:r>
          </a:p>
        </p:txBody>
      </p:sp>
      <p:sp>
        <p:nvSpPr>
          <p:cNvPr id="42" name="Rectangle 41"/>
          <p:cNvSpPr/>
          <p:nvPr/>
        </p:nvSpPr>
        <p:spPr>
          <a:xfrm>
            <a:off x="715518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91756" y="1719072"/>
            <a:ext cx="761238" cy="310896"/>
          </a:xfrm>
          <a:prstGeom prst="rect">
            <a:avLst/>
          </a:prstGeom>
          <a:noFill/>
        </p:spPr>
        <p:txBody>
          <a:bodyPr wrap="square">
            <a:spAutoFit/>
          </a:bodyPr>
          <a:lstStyle/>
          <a:p>
            <a:pPr algn="ctr"/>
            <a:r>
              <a:rPr sz="1100" b="0" i="0">
                <a:solidFill>
                  <a:srgbClr val="C00000"/>
                </a:solidFill>
                <a:latin typeface="Calibri"/>
              </a:rPr>
              <a:t>$94.6M</a:t>
            </a:r>
          </a:p>
        </p:txBody>
      </p:sp>
      <p:sp>
        <p:nvSpPr>
          <p:cNvPr id="44" name="Rectangle 43"/>
          <p:cNvSpPr/>
          <p:nvPr/>
        </p:nvSpPr>
        <p:spPr>
          <a:xfrm>
            <a:off x="7989570" y="1645920"/>
            <a:ext cx="834390" cy="420624"/>
          </a:xfrm>
          <a:prstGeom prst="rect">
            <a:avLst/>
          </a:prstGeom>
          <a:solidFill>
            <a:srgbClr val="FFDCD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26146" y="1719072"/>
            <a:ext cx="761238" cy="310896"/>
          </a:xfrm>
          <a:prstGeom prst="rect">
            <a:avLst/>
          </a:prstGeom>
          <a:noFill/>
        </p:spPr>
        <p:txBody>
          <a:bodyPr wrap="square">
            <a:spAutoFit/>
          </a:bodyPr>
          <a:lstStyle/>
          <a:p>
            <a:pPr algn="ctr"/>
            <a:r>
              <a:rPr sz="1100" b="0" i="0">
                <a:solidFill>
                  <a:srgbClr val="C00000"/>
                </a:solidFill>
                <a:latin typeface="Calibri"/>
              </a:rPr>
              <a:t>$97.0M</a:t>
            </a:r>
          </a:p>
        </p:txBody>
      </p:sp>
      <p:sp>
        <p:nvSpPr>
          <p:cNvPr id="46" name="Rectangle 45"/>
          <p:cNvSpPr/>
          <p:nvPr/>
        </p:nvSpPr>
        <p:spPr>
          <a:xfrm>
            <a:off x="320040" y="2103120"/>
            <a:ext cx="182880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6616" y="2176272"/>
            <a:ext cx="1755648" cy="310896"/>
          </a:xfrm>
          <a:prstGeom prst="rect">
            <a:avLst/>
          </a:prstGeom>
          <a:noFill/>
        </p:spPr>
        <p:txBody>
          <a:bodyPr wrap="square">
            <a:spAutoFit/>
          </a:bodyPr>
          <a:lstStyle/>
          <a:p>
            <a:pPr algn="ctr"/>
            <a:r>
              <a:rPr sz="1100" b="1" i="0">
                <a:solidFill>
                  <a:srgbClr val="375623"/>
                </a:solidFill>
                <a:latin typeface="Calibri"/>
              </a:rPr>
              <a:t>Con Plan</a:t>
            </a:r>
          </a:p>
        </p:txBody>
      </p:sp>
      <p:sp>
        <p:nvSpPr>
          <p:cNvPr id="48" name="Rectangle 47"/>
          <p:cNvSpPr/>
          <p:nvPr/>
        </p:nvSpPr>
        <p:spPr>
          <a:xfrm>
            <a:off x="214884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85416" y="2176272"/>
            <a:ext cx="761238" cy="310896"/>
          </a:xfrm>
          <a:prstGeom prst="rect">
            <a:avLst/>
          </a:prstGeom>
          <a:noFill/>
        </p:spPr>
        <p:txBody>
          <a:bodyPr wrap="square">
            <a:spAutoFit/>
          </a:bodyPr>
          <a:lstStyle/>
          <a:p>
            <a:pPr algn="ctr"/>
            <a:r>
              <a:rPr sz="1100" b="0" i="0">
                <a:solidFill>
                  <a:srgbClr val="375623"/>
                </a:solidFill>
                <a:latin typeface="Calibri"/>
              </a:rPr>
              <a:t>$74.4M</a:t>
            </a:r>
          </a:p>
        </p:txBody>
      </p:sp>
      <p:sp>
        <p:nvSpPr>
          <p:cNvPr id="50" name="Rectangle 49"/>
          <p:cNvSpPr/>
          <p:nvPr/>
        </p:nvSpPr>
        <p:spPr>
          <a:xfrm>
            <a:off x="298323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19806" y="2176272"/>
            <a:ext cx="761238" cy="310896"/>
          </a:xfrm>
          <a:prstGeom prst="rect">
            <a:avLst/>
          </a:prstGeom>
          <a:noFill/>
        </p:spPr>
        <p:txBody>
          <a:bodyPr wrap="square">
            <a:spAutoFit/>
          </a:bodyPr>
          <a:lstStyle/>
          <a:p>
            <a:pPr algn="ctr"/>
            <a:r>
              <a:rPr sz="1100" b="0" i="0">
                <a:solidFill>
                  <a:srgbClr val="375623"/>
                </a:solidFill>
                <a:latin typeface="Calibri"/>
              </a:rPr>
              <a:t>$69.0M</a:t>
            </a:r>
          </a:p>
        </p:txBody>
      </p:sp>
      <p:sp>
        <p:nvSpPr>
          <p:cNvPr id="52" name="Rectangle 51"/>
          <p:cNvSpPr/>
          <p:nvPr/>
        </p:nvSpPr>
        <p:spPr>
          <a:xfrm>
            <a:off x="381762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54196" y="2176272"/>
            <a:ext cx="761238" cy="310896"/>
          </a:xfrm>
          <a:prstGeom prst="rect">
            <a:avLst/>
          </a:prstGeom>
          <a:noFill/>
        </p:spPr>
        <p:txBody>
          <a:bodyPr wrap="square">
            <a:spAutoFit/>
          </a:bodyPr>
          <a:lstStyle/>
          <a:p>
            <a:pPr algn="ctr"/>
            <a:r>
              <a:rPr sz="1100" b="0" i="0">
                <a:solidFill>
                  <a:srgbClr val="375623"/>
                </a:solidFill>
                <a:latin typeface="Calibri"/>
              </a:rPr>
              <a:t>$86.0M</a:t>
            </a:r>
          </a:p>
        </p:txBody>
      </p:sp>
      <p:sp>
        <p:nvSpPr>
          <p:cNvPr id="54" name="Rectangle 53"/>
          <p:cNvSpPr/>
          <p:nvPr/>
        </p:nvSpPr>
        <p:spPr>
          <a:xfrm>
            <a:off x="465201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88586" y="2176272"/>
            <a:ext cx="761238" cy="310896"/>
          </a:xfrm>
          <a:prstGeom prst="rect">
            <a:avLst/>
          </a:prstGeom>
          <a:noFill/>
        </p:spPr>
        <p:txBody>
          <a:bodyPr wrap="square">
            <a:spAutoFit/>
          </a:bodyPr>
          <a:lstStyle/>
          <a:p>
            <a:pPr algn="ctr"/>
            <a:r>
              <a:rPr sz="1100" b="0" i="0">
                <a:solidFill>
                  <a:srgbClr val="375623"/>
                </a:solidFill>
                <a:latin typeface="Calibri"/>
              </a:rPr>
              <a:t>$79.2M</a:t>
            </a:r>
          </a:p>
        </p:txBody>
      </p:sp>
      <p:sp>
        <p:nvSpPr>
          <p:cNvPr id="56" name="Rectangle 55"/>
          <p:cNvSpPr/>
          <p:nvPr/>
        </p:nvSpPr>
        <p:spPr>
          <a:xfrm>
            <a:off x="548640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522976" y="2176272"/>
            <a:ext cx="761238" cy="310896"/>
          </a:xfrm>
          <a:prstGeom prst="rect">
            <a:avLst/>
          </a:prstGeom>
          <a:noFill/>
        </p:spPr>
        <p:txBody>
          <a:bodyPr wrap="square">
            <a:spAutoFit/>
          </a:bodyPr>
          <a:lstStyle/>
          <a:p>
            <a:pPr algn="ctr"/>
            <a:r>
              <a:rPr sz="1100" b="0" i="0">
                <a:solidFill>
                  <a:srgbClr val="375623"/>
                </a:solidFill>
                <a:latin typeface="Calibri"/>
              </a:rPr>
              <a:t>$67.0M</a:t>
            </a:r>
          </a:p>
        </p:txBody>
      </p:sp>
      <p:sp>
        <p:nvSpPr>
          <p:cNvPr id="58" name="Rectangle 57"/>
          <p:cNvSpPr/>
          <p:nvPr/>
        </p:nvSpPr>
        <p:spPr>
          <a:xfrm>
            <a:off x="632079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57366" y="2176272"/>
            <a:ext cx="761238" cy="310896"/>
          </a:xfrm>
          <a:prstGeom prst="rect">
            <a:avLst/>
          </a:prstGeom>
          <a:noFill/>
        </p:spPr>
        <p:txBody>
          <a:bodyPr wrap="square">
            <a:spAutoFit/>
          </a:bodyPr>
          <a:lstStyle/>
          <a:p>
            <a:pPr algn="ctr"/>
            <a:r>
              <a:rPr sz="1100" b="0" i="0">
                <a:solidFill>
                  <a:srgbClr val="375623"/>
                </a:solidFill>
                <a:latin typeface="Calibri"/>
              </a:rPr>
              <a:t>$59.1M</a:t>
            </a:r>
          </a:p>
        </p:txBody>
      </p:sp>
      <p:sp>
        <p:nvSpPr>
          <p:cNvPr id="60" name="Rectangle 59"/>
          <p:cNvSpPr/>
          <p:nvPr/>
        </p:nvSpPr>
        <p:spPr>
          <a:xfrm>
            <a:off x="715518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91756" y="2176272"/>
            <a:ext cx="761238" cy="310896"/>
          </a:xfrm>
          <a:prstGeom prst="rect">
            <a:avLst/>
          </a:prstGeom>
          <a:noFill/>
        </p:spPr>
        <p:txBody>
          <a:bodyPr wrap="square">
            <a:spAutoFit/>
          </a:bodyPr>
          <a:lstStyle/>
          <a:p>
            <a:pPr algn="ctr"/>
            <a:r>
              <a:rPr sz="1100" b="0" i="0">
                <a:solidFill>
                  <a:srgbClr val="375623"/>
                </a:solidFill>
                <a:latin typeface="Calibri"/>
              </a:rPr>
              <a:t>$71.7M</a:t>
            </a:r>
          </a:p>
        </p:txBody>
      </p:sp>
      <p:sp>
        <p:nvSpPr>
          <p:cNvPr id="62" name="Rectangle 61"/>
          <p:cNvSpPr/>
          <p:nvPr/>
        </p:nvSpPr>
        <p:spPr>
          <a:xfrm>
            <a:off x="7989570" y="2103120"/>
            <a:ext cx="834390" cy="420624"/>
          </a:xfrm>
          <a:prstGeom prst="rect">
            <a:avLst/>
          </a:prstGeom>
          <a:solidFill>
            <a:srgbClr val="E2EFDA"/>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26146" y="2176272"/>
            <a:ext cx="761238" cy="310896"/>
          </a:xfrm>
          <a:prstGeom prst="rect">
            <a:avLst/>
          </a:prstGeom>
          <a:noFill/>
        </p:spPr>
        <p:txBody>
          <a:bodyPr wrap="square">
            <a:spAutoFit/>
          </a:bodyPr>
          <a:lstStyle/>
          <a:p>
            <a:pPr algn="ctr"/>
            <a:r>
              <a:rPr sz="1100" b="0" i="0">
                <a:solidFill>
                  <a:srgbClr val="375623"/>
                </a:solidFill>
                <a:latin typeface="Calibri"/>
              </a:rPr>
              <a:t>$74.0M</a:t>
            </a:r>
          </a:p>
        </p:txBody>
      </p:sp>
      <p:sp>
        <p:nvSpPr>
          <p:cNvPr id="64" name="Rectangle 63"/>
          <p:cNvSpPr/>
          <p:nvPr/>
        </p:nvSpPr>
        <p:spPr>
          <a:xfrm>
            <a:off x="320040" y="2560320"/>
            <a:ext cx="182880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6616" y="2633472"/>
            <a:ext cx="1755648" cy="310896"/>
          </a:xfrm>
          <a:prstGeom prst="rect">
            <a:avLst/>
          </a:prstGeom>
          <a:noFill/>
        </p:spPr>
        <p:txBody>
          <a:bodyPr wrap="square">
            <a:spAutoFit/>
          </a:bodyPr>
          <a:lstStyle/>
          <a:p>
            <a:pPr algn="ctr"/>
            <a:r>
              <a:rPr sz="1100" b="1" i="0">
                <a:solidFill>
                  <a:srgbClr val="7F6000"/>
                </a:solidFill>
                <a:latin typeface="Calibri"/>
              </a:rPr>
              <a:t>Presupuesto</a:t>
            </a:r>
          </a:p>
        </p:txBody>
      </p:sp>
      <p:sp>
        <p:nvSpPr>
          <p:cNvPr id="66" name="Rectangle 65"/>
          <p:cNvSpPr/>
          <p:nvPr/>
        </p:nvSpPr>
        <p:spPr>
          <a:xfrm>
            <a:off x="214884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5416" y="2633472"/>
            <a:ext cx="761238" cy="310896"/>
          </a:xfrm>
          <a:prstGeom prst="rect">
            <a:avLst/>
          </a:prstGeom>
          <a:noFill/>
        </p:spPr>
        <p:txBody>
          <a:bodyPr wrap="square">
            <a:spAutoFit/>
          </a:bodyPr>
          <a:lstStyle/>
          <a:p>
            <a:pPr algn="ctr"/>
            <a:r>
              <a:rPr sz="1100" b="0" i="0">
                <a:solidFill>
                  <a:srgbClr val="7F6000"/>
                </a:solidFill>
                <a:latin typeface="Calibri"/>
              </a:rPr>
              <a:t>$47.0M</a:t>
            </a:r>
          </a:p>
        </p:txBody>
      </p:sp>
      <p:sp>
        <p:nvSpPr>
          <p:cNvPr id="68" name="Rectangle 67"/>
          <p:cNvSpPr/>
          <p:nvPr/>
        </p:nvSpPr>
        <p:spPr>
          <a:xfrm>
            <a:off x="298323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019806" y="2633472"/>
            <a:ext cx="761238" cy="310896"/>
          </a:xfrm>
          <a:prstGeom prst="rect">
            <a:avLst/>
          </a:prstGeom>
          <a:noFill/>
        </p:spPr>
        <p:txBody>
          <a:bodyPr wrap="square">
            <a:spAutoFit/>
          </a:bodyPr>
          <a:lstStyle/>
          <a:p>
            <a:pPr algn="ctr"/>
            <a:r>
              <a:rPr sz="1100" b="0" i="0">
                <a:solidFill>
                  <a:srgbClr val="7F6000"/>
                </a:solidFill>
                <a:latin typeface="Calibri"/>
              </a:rPr>
              <a:t>$44.0M</a:t>
            </a:r>
          </a:p>
        </p:txBody>
      </p:sp>
      <p:sp>
        <p:nvSpPr>
          <p:cNvPr id="70" name="Rectangle 69"/>
          <p:cNvSpPr/>
          <p:nvPr/>
        </p:nvSpPr>
        <p:spPr>
          <a:xfrm>
            <a:off x="381762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54196" y="2633472"/>
            <a:ext cx="761238" cy="310896"/>
          </a:xfrm>
          <a:prstGeom prst="rect">
            <a:avLst/>
          </a:prstGeom>
          <a:noFill/>
        </p:spPr>
        <p:txBody>
          <a:bodyPr wrap="square">
            <a:spAutoFit/>
          </a:bodyPr>
          <a:lstStyle/>
          <a:p>
            <a:pPr algn="ctr"/>
            <a:r>
              <a:rPr sz="1100" b="0" i="0">
                <a:solidFill>
                  <a:srgbClr val="7F6000"/>
                </a:solidFill>
                <a:latin typeface="Calibri"/>
              </a:rPr>
              <a:t>$52.0M</a:t>
            </a:r>
          </a:p>
        </p:txBody>
      </p:sp>
      <p:sp>
        <p:nvSpPr>
          <p:cNvPr id="72" name="Rectangle 71"/>
          <p:cNvSpPr/>
          <p:nvPr/>
        </p:nvSpPr>
        <p:spPr>
          <a:xfrm>
            <a:off x="465201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688586" y="2633472"/>
            <a:ext cx="761238" cy="310896"/>
          </a:xfrm>
          <a:prstGeom prst="rect">
            <a:avLst/>
          </a:prstGeom>
          <a:noFill/>
        </p:spPr>
        <p:txBody>
          <a:bodyPr wrap="square">
            <a:spAutoFit/>
          </a:bodyPr>
          <a:lstStyle/>
          <a:p>
            <a:pPr algn="ctr"/>
            <a:r>
              <a:rPr sz="1100" b="0" i="0">
                <a:solidFill>
                  <a:srgbClr val="7F6000"/>
                </a:solidFill>
                <a:latin typeface="Calibri"/>
              </a:rPr>
              <a:t>$51.0M</a:t>
            </a:r>
          </a:p>
        </p:txBody>
      </p:sp>
      <p:sp>
        <p:nvSpPr>
          <p:cNvPr id="74" name="Rectangle 73"/>
          <p:cNvSpPr/>
          <p:nvPr/>
        </p:nvSpPr>
        <p:spPr>
          <a:xfrm>
            <a:off x="548640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22976" y="2633472"/>
            <a:ext cx="761238" cy="310896"/>
          </a:xfrm>
          <a:prstGeom prst="rect">
            <a:avLst/>
          </a:prstGeom>
          <a:noFill/>
        </p:spPr>
        <p:txBody>
          <a:bodyPr wrap="square">
            <a:spAutoFit/>
          </a:bodyPr>
          <a:lstStyle/>
          <a:p>
            <a:pPr algn="ctr"/>
            <a:r>
              <a:rPr sz="1100" b="0" i="0">
                <a:solidFill>
                  <a:srgbClr val="7F6000"/>
                </a:solidFill>
                <a:latin typeface="Calibri"/>
              </a:rPr>
              <a:t>$49.0M</a:t>
            </a:r>
          </a:p>
        </p:txBody>
      </p:sp>
      <p:sp>
        <p:nvSpPr>
          <p:cNvPr id="76" name="Rectangle 75"/>
          <p:cNvSpPr/>
          <p:nvPr/>
        </p:nvSpPr>
        <p:spPr>
          <a:xfrm>
            <a:off x="632079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357366" y="2633472"/>
            <a:ext cx="761238" cy="310896"/>
          </a:xfrm>
          <a:prstGeom prst="rect">
            <a:avLst/>
          </a:prstGeom>
          <a:noFill/>
        </p:spPr>
        <p:txBody>
          <a:bodyPr wrap="square">
            <a:spAutoFit/>
          </a:bodyPr>
          <a:lstStyle/>
          <a:p>
            <a:pPr algn="ctr"/>
            <a:r>
              <a:rPr sz="1100" b="0" i="0">
                <a:solidFill>
                  <a:srgbClr val="7F6000"/>
                </a:solidFill>
                <a:latin typeface="Calibri"/>
              </a:rPr>
              <a:t>$46.0M</a:t>
            </a:r>
          </a:p>
        </p:txBody>
      </p:sp>
      <p:sp>
        <p:nvSpPr>
          <p:cNvPr id="78" name="Rectangle 77"/>
          <p:cNvSpPr/>
          <p:nvPr/>
        </p:nvSpPr>
        <p:spPr>
          <a:xfrm>
            <a:off x="715518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191756" y="2633472"/>
            <a:ext cx="761238" cy="310896"/>
          </a:xfrm>
          <a:prstGeom prst="rect">
            <a:avLst/>
          </a:prstGeom>
          <a:noFill/>
        </p:spPr>
        <p:txBody>
          <a:bodyPr wrap="square">
            <a:spAutoFit/>
          </a:bodyPr>
          <a:lstStyle/>
          <a:p>
            <a:pPr algn="ctr"/>
            <a:r>
              <a:rPr sz="1100" b="0" i="0">
                <a:solidFill>
                  <a:srgbClr val="7F6000"/>
                </a:solidFill>
                <a:latin typeface="Calibri"/>
              </a:rPr>
              <a:t>$53.0M</a:t>
            </a:r>
          </a:p>
        </p:txBody>
      </p:sp>
      <p:sp>
        <p:nvSpPr>
          <p:cNvPr id="80" name="Rectangle 79"/>
          <p:cNvSpPr/>
          <p:nvPr/>
        </p:nvSpPr>
        <p:spPr>
          <a:xfrm>
            <a:off x="7989570" y="2560320"/>
            <a:ext cx="834390" cy="420624"/>
          </a:xfrm>
          <a:prstGeom prst="rect">
            <a:avLst/>
          </a:prstGeom>
          <a:solidFill>
            <a:srgbClr val="FFF2CC"/>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026146" y="2633472"/>
            <a:ext cx="761238" cy="310896"/>
          </a:xfrm>
          <a:prstGeom prst="rect">
            <a:avLst/>
          </a:prstGeom>
          <a:noFill/>
        </p:spPr>
        <p:txBody>
          <a:bodyPr wrap="square">
            <a:spAutoFit/>
          </a:bodyPr>
          <a:lstStyle/>
          <a:p>
            <a:pPr algn="ctr"/>
            <a:r>
              <a:rPr sz="1100" b="0" i="0">
                <a:solidFill>
                  <a:srgbClr val="7F6000"/>
                </a:solidFill>
                <a:latin typeface="Calibri"/>
              </a:rPr>
              <a:t>$54.0M</a:t>
            </a:r>
          </a:p>
        </p:txBody>
      </p:sp>
      <p:sp>
        <p:nvSpPr>
          <p:cNvPr id="82" name="Rectangle 81"/>
          <p:cNvSpPr/>
          <p:nvPr/>
        </p:nvSpPr>
        <p:spPr>
          <a:xfrm>
            <a:off x="320040" y="3072384"/>
            <a:ext cx="8503920" cy="420624"/>
          </a:xfrm>
          <a:prstGeom prst="rect">
            <a:avLst/>
          </a:prstGeom>
          <a:solidFill>
            <a:srgbClr val="E2EFDA"/>
          </a:solidFill>
          <a:ln w="19050">
            <a:solidFill>
              <a:srgbClr val="375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56616" y="3145536"/>
            <a:ext cx="1755648" cy="310896"/>
          </a:xfrm>
          <a:prstGeom prst="rect">
            <a:avLst/>
          </a:prstGeom>
          <a:noFill/>
        </p:spPr>
        <p:txBody>
          <a:bodyPr wrap="square">
            <a:spAutoFit/>
          </a:bodyPr>
          <a:lstStyle/>
          <a:p>
            <a:pPr algn="ctr"/>
            <a:r>
              <a:rPr sz="1100" b="1" i="0">
                <a:solidFill>
                  <a:srgbClr val="375623"/>
                </a:solidFill>
                <a:latin typeface="Calibri"/>
              </a:rPr>
              <a:t>Ahorro mensual</a:t>
            </a:r>
          </a:p>
        </p:txBody>
      </p:sp>
      <p:sp>
        <p:nvSpPr>
          <p:cNvPr id="84" name="TextBox 83"/>
          <p:cNvSpPr txBox="1"/>
          <p:nvPr/>
        </p:nvSpPr>
        <p:spPr>
          <a:xfrm>
            <a:off x="2185416" y="3145536"/>
            <a:ext cx="761238" cy="310896"/>
          </a:xfrm>
          <a:prstGeom prst="rect">
            <a:avLst/>
          </a:prstGeom>
          <a:noFill/>
        </p:spPr>
        <p:txBody>
          <a:bodyPr wrap="square">
            <a:spAutoFit/>
          </a:bodyPr>
          <a:lstStyle/>
          <a:p>
            <a:pPr algn="ctr"/>
            <a:r>
              <a:rPr sz="1100" b="1" i="0">
                <a:solidFill>
                  <a:srgbClr val="375623"/>
                </a:solidFill>
                <a:latin typeface="Calibri"/>
              </a:rPr>
              <a:t>$6.7M</a:t>
            </a:r>
          </a:p>
        </p:txBody>
      </p:sp>
      <p:sp>
        <p:nvSpPr>
          <p:cNvPr id="85" name="TextBox 84"/>
          <p:cNvSpPr txBox="1"/>
          <p:nvPr/>
        </p:nvSpPr>
        <p:spPr>
          <a:xfrm>
            <a:off x="3019806" y="3145536"/>
            <a:ext cx="761238" cy="310896"/>
          </a:xfrm>
          <a:prstGeom prst="rect">
            <a:avLst/>
          </a:prstGeom>
          <a:noFill/>
        </p:spPr>
        <p:txBody>
          <a:bodyPr wrap="square">
            <a:spAutoFit/>
          </a:bodyPr>
          <a:lstStyle/>
          <a:p>
            <a:pPr algn="ctr"/>
            <a:r>
              <a:rPr sz="1100" b="1" i="0">
                <a:solidFill>
                  <a:srgbClr val="375623"/>
                </a:solidFill>
                <a:latin typeface="Calibri"/>
              </a:rPr>
              <a:t>$6.7M</a:t>
            </a:r>
          </a:p>
        </p:txBody>
      </p:sp>
      <p:sp>
        <p:nvSpPr>
          <p:cNvPr id="86" name="TextBox 85"/>
          <p:cNvSpPr txBox="1"/>
          <p:nvPr/>
        </p:nvSpPr>
        <p:spPr>
          <a:xfrm>
            <a:off x="3854196" y="3145536"/>
            <a:ext cx="761238" cy="310896"/>
          </a:xfrm>
          <a:prstGeom prst="rect">
            <a:avLst/>
          </a:prstGeom>
          <a:noFill/>
        </p:spPr>
        <p:txBody>
          <a:bodyPr wrap="square">
            <a:spAutoFit/>
          </a:bodyPr>
          <a:lstStyle/>
          <a:p>
            <a:pPr algn="ctr"/>
            <a:r>
              <a:rPr sz="1100" b="1" i="0">
                <a:solidFill>
                  <a:srgbClr val="375623"/>
                </a:solidFill>
                <a:latin typeface="Calibri"/>
              </a:rPr>
              <a:t>$6.7M</a:t>
            </a:r>
          </a:p>
        </p:txBody>
      </p:sp>
      <p:sp>
        <p:nvSpPr>
          <p:cNvPr id="87" name="TextBox 86"/>
          <p:cNvSpPr txBox="1"/>
          <p:nvPr/>
        </p:nvSpPr>
        <p:spPr>
          <a:xfrm>
            <a:off x="4688586" y="3145536"/>
            <a:ext cx="761238" cy="310896"/>
          </a:xfrm>
          <a:prstGeom prst="rect">
            <a:avLst/>
          </a:prstGeom>
          <a:noFill/>
        </p:spPr>
        <p:txBody>
          <a:bodyPr wrap="square">
            <a:spAutoFit/>
          </a:bodyPr>
          <a:lstStyle/>
          <a:p>
            <a:pPr algn="ctr"/>
            <a:r>
              <a:rPr sz="1100" b="1" i="0">
                <a:solidFill>
                  <a:srgbClr val="375623"/>
                </a:solidFill>
                <a:latin typeface="Calibri"/>
              </a:rPr>
              <a:t>$10.4M</a:t>
            </a:r>
          </a:p>
        </p:txBody>
      </p:sp>
      <p:sp>
        <p:nvSpPr>
          <p:cNvPr id="88" name="TextBox 87"/>
          <p:cNvSpPr txBox="1"/>
          <p:nvPr/>
        </p:nvSpPr>
        <p:spPr>
          <a:xfrm>
            <a:off x="5522976" y="3145536"/>
            <a:ext cx="761238" cy="310896"/>
          </a:xfrm>
          <a:prstGeom prst="rect">
            <a:avLst/>
          </a:prstGeom>
          <a:noFill/>
        </p:spPr>
        <p:txBody>
          <a:bodyPr wrap="square">
            <a:spAutoFit/>
          </a:bodyPr>
          <a:lstStyle/>
          <a:p>
            <a:pPr algn="ctr"/>
            <a:r>
              <a:rPr sz="1100" b="1" i="0">
                <a:solidFill>
                  <a:srgbClr val="375623"/>
                </a:solidFill>
                <a:latin typeface="Calibri"/>
              </a:rPr>
              <a:t>$17.6M</a:t>
            </a:r>
          </a:p>
        </p:txBody>
      </p:sp>
      <p:sp>
        <p:nvSpPr>
          <p:cNvPr id="89" name="TextBox 88"/>
          <p:cNvSpPr txBox="1"/>
          <p:nvPr/>
        </p:nvSpPr>
        <p:spPr>
          <a:xfrm>
            <a:off x="6357366" y="3145536"/>
            <a:ext cx="761238" cy="310896"/>
          </a:xfrm>
          <a:prstGeom prst="rect">
            <a:avLst/>
          </a:prstGeom>
          <a:noFill/>
        </p:spPr>
        <p:txBody>
          <a:bodyPr wrap="square">
            <a:spAutoFit/>
          </a:bodyPr>
          <a:lstStyle/>
          <a:p>
            <a:pPr algn="ctr"/>
            <a:r>
              <a:rPr sz="1100" b="1" i="0">
                <a:solidFill>
                  <a:srgbClr val="375623"/>
                </a:solidFill>
                <a:latin typeface="Calibri"/>
              </a:rPr>
              <a:t>$19.4M</a:t>
            </a:r>
          </a:p>
        </p:txBody>
      </p:sp>
      <p:sp>
        <p:nvSpPr>
          <p:cNvPr id="90" name="TextBox 89"/>
          <p:cNvSpPr txBox="1"/>
          <p:nvPr/>
        </p:nvSpPr>
        <p:spPr>
          <a:xfrm>
            <a:off x="7191756" y="3145536"/>
            <a:ext cx="761238" cy="310896"/>
          </a:xfrm>
          <a:prstGeom prst="rect">
            <a:avLst/>
          </a:prstGeom>
          <a:noFill/>
        </p:spPr>
        <p:txBody>
          <a:bodyPr wrap="square">
            <a:spAutoFit/>
          </a:bodyPr>
          <a:lstStyle/>
          <a:p>
            <a:pPr algn="ctr"/>
            <a:r>
              <a:rPr sz="1100" b="1" i="0">
                <a:solidFill>
                  <a:srgbClr val="375623"/>
                </a:solidFill>
                <a:latin typeface="Calibri"/>
              </a:rPr>
              <a:t>$22.9M</a:t>
            </a:r>
          </a:p>
        </p:txBody>
      </p:sp>
      <p:sp>
        <p:nvSpPr>
          <p:cNvPr id="91" name="TextBox 90"/>
          <p:cNvSpPr txBox="1"/>
          <p:nvPr/>
        </p:nvSpPr>
        <p:spPr>
          <a:xfrm>
            <a:off x="8026146" y="3145536"/>
            <a:ext cx="761238" cy="310896"/>
          </a:xfrm>
          <a:prstGeom prst="rect">
            <a:avLst/>
          </a:prstGeom>
          <a:noFill/>
        </p:spPr>
        <p:txBody>
          <a:bodyPr wrap="square">
            <a:spAutoFit/>
          </a:bodyPr>
          <a:lstStyle/>
          <a:p>
            <a:pPr algn="ctr"/>
            <a:r>
              <a:rPr sz="1100" b="1" i="0">
                <a:solidFill>
                  <a:srgbClr val="375623"/>
                </a:solidFill>
                <a:latin typeface="Calibri"/>
              </a:rPr>
              <a:t>$23.0M</a:t>
            </a:r>
          </a:p>
        </p:txBody>
      </p:sp>
      <p:sp>
        <p:nvSpPr>
          <p:cNvPr id="92" name="Rectangle 91"/>
          <p:cNvSpPr/>
          <p:nvPr/>
        </p:nvSpPr>
        <p:spPr>
          <a:xfrm>
            <a:off x="320040" y="4663440"/>
            <a:ext cx="2423160" cy="1463040"/>
          </a:xfrm>
          <a:prstGeom prst="rect">
            <a:avLst/>
          </a:prstGeom>
          <a:solidFill>
            <a:srgbClr val="FFDCDC"/>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11480" y="4736592"/>
            <a:ext cx="2240280" cy="457200"/>
          </a:xfrm>
          <a:prstGeom prst="rect">
            <a:avLst/>
          </a:prstGeom>
          <a:noFill/>
        </p:spPr>
        <p:txBody>
          <a:bodyPr wrap="square">
            <a:spAutoFit/>
          </a:bodyPr>
          <a:lstStyle/>
          <a:p>
            <a:pPr algn="ctr"/>
            <a:r>
              <a:rPr sz="1100" b="0" i="0">
                <a:solidFill>
                  <a:srgbClr val="595959"/>
                </a:solidFill>
                <a:latin typeface="Calibri"/>
              </a:rPr>
              <a:t>Sin Plan
May-Dic</a:t>
            </a:r>
          </a:p>
        </p:txBody>
      </p:sp>
      <p:sp>
        <p:nvSpPr>
          <p:cNvPr id="94" name="TextBox 93"/>
          <p:cNvSpPr txBox="1"/>
          <p:nvPr/>
        </p:nvSpPr>
        <p:spPr>
          <a:xfrm>
            <a:off x="365760" y="5166360"/>
            <a:ext cx="2331720" cy="685800"/>
          </a:xfrm>
          <a:prstGeom prst="rect">
            <a:avLst/>
          </a:prstGeom>
          <a:noFill/>
        </p:spPr>
        <p:txBody>
          <a:bodyPr wrap="square">
            <a:spAutoFit/>
          </a:bodyPr>
          <a:lstStyle/>
          <a:p>
            <a:pPr algn="ctr"/>
            <a:r>
              <a:rPr sz="2600" b="1" i="0">
                <a:solidFill>
                  <a:srgbClr val="C00000"/>
                </a:solidFill>
                <a:latin typeface="Calibri"/>
              </a:rPr>
              <a:t>$693.8M</a:t>
            </a:r>
          </a:p>
        </p:txBody>
      </p:sp>
      <p:sp>
        <p:nvSpPr>
          <p:cNvPr id="95" name="Rectangle 94"/>
          <p:cNvSpPr/>
          <p:nvPr/>
        </p:nvSpPr>
        <p:spPr>
          <a:xfrm>
            <a:off x="2962656" y="4663440"/>
            <a:ext cx="2423160" cy="1463040"/>
          </a:xfrm>
          <a:prstGeom prst="rect">
            <a:avLst/>
          </a:prstGeom>
          <a:solidFill>
            <a:srgbClr val="E2EFDA"/>
          </a:solidFill>
          <a:ln w="19050">
            <a:solidFill>
              <a:srgbClr val="375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54096" y="4736592"/>
            <a:ext cx="2240280" cy="457200"/>
          </a:xfrm>
          <a:prstGeom prst="rect">
            <a:avLst/>
          </a:prstGeom>
          <a:noFill/>
        </p:spPr>
        <p:txBody>
          <a:bodyPr wrap="square">
            <a:spAutoFit/>
          </a:bodyPr>
          <a:lstStyle/>
          <a:p>
            <a:pPr algn="ctr"/>
            <a:r>
              <a:rPr sz="1100" b="0" i="0">
                <a:solidFill>
                  <a:srgbClr val="595959"/>
                </a:solidFill>
                <a:latin typeface="Calibri"/>
              </a:rPr>
              <a:t>Con Plan
May-Dic</a:t>
            </a:r>
          </a:p>
        </p:txBody>
      </p:sp>
      <p:sp>
        <p:nvSpPr>
          <p:cNvPr id="97" name="TextBox 96"/>
          <p:cNvSpPr txBox="1"/>
          <p:nvPr/>
        </p:nvSpPr>
        <p:spPr>
          <a:xfrm>
            <a:off x="3008376" y="5166360"/>
            <a:ext cx="2331720" cy="685800"/>
          </a:xfrm>
          <a:prstGeom prst="rect">
            <a:avLst/>
          </a:prstGeom>
          <a:noFill/>
        </p:spPr>
        <p:txBody>
          <a:bodyPr wrap="square">
            <a:spAutoFit/>
          </a:bodyPr>
          <a:lstStyle/>
          <a:p>
            <a:pPr algn="ctr"/>
            <a:r>
              <a:rPr sz="2600" b="1" i="0">
                <a:solidFill>
                  <a:srgbClr val="375623"/>
                </a:solidFill>
                <a:latin typeface="Calibri"/>
              </a:rPr>
              <a:t>$580.3M</a:t>
            </a:r>
          </a:p>
        </p:txBody>
      </p:sp>
      <p:sp>
        <p:nvSpPr>
          <p:cNvPr id="98" name="Rectangle 97"/>
          <p:cNvSpPr/>
          <p:nvPr/>
        </p:nvSpPr>
        <p:spPr>
          <a:xfrm>
            <a:off x="5605272" y="4663440"/>
            <a:ext cx="2423160" cy="1463040"/>
          </a:xfrm>
          <a:prstGeom prst="rect">
            <a:avLst/>
          </a:prstGeom>
          <a:solidFill>
            <a:srgbClr val="E2EFDA"/>
          </a:solidFill>
          <a:ln w="19050">
            <a:solidFill>
              <a:srgbClr val="375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696712" y="4736592"/>
            <a:ext cx="2240280" cy="457200"/>
          </a:xfrm>
          <a:prstGeom prst="rect">
            <a:avLst/>
          </a:prstGeom>
          <a:noFill/>
        </p:spPr>
        <p:txBody>
          <a:bodyPr wrap="square">
            <a:spAutoFit/>
          </a:bodyPr>
          <a:lstStyle/>
          <a:p>
            <a:pPr algn="ctr"/>
            <a:r>
              <a:rPr sz="1100" b="0" i="0">
                <a:solidFill>
                  <a:srgbClr val="595959"/>
                </a:solidFill>
                <a:latin typeface="Calibri"/>
              </a:rPr>
              <a:t>Ahorro
Total</a:t>
            </a:r>
          </a:p>
        </p:txBody>
      </p:sp>
      <p:sp>
        <p:nvSpPr>
          <p:cNvPr id="100" name="TextBox 99"/>
          <p:cNvSpPr txBox="1"/>
          <p:nvPr/>
        </p:nvSpPr>
        <p:spPr>
          <a:xfrm>
            <a:off x="5650992" y="5166360"/>
            <a:ext cx="2331720" cy="685800"/>
          </a:xfrm>
          <a:prstGeom prst="rect">
            <a:avLst/>
          </a:prstGeom>
          <a:noFill/>
        </p:spPr>
        <p:txBody>
          <a:bodyPr wrap="square">
            <a:spAutoFit/>
          </a:bodyPr>
          <a:lstStyle/>
          <a:p>
            <a:pPr algn="ctr"/>
            <a:r>
              <a:rPr sz="2600" b="1" i="0">
                <a:solidFill>
                  <a:srgbClr val="375623"/>
                </a:solidFill>
                <a:latin typeface="Calibri"/>
              </a:rPr>
              <a:t>$113.5M</a:t>
            </a:r>
          </a:p>
        </p:txBody>
      </p:sp>
      <p:sp>
        <p:nvSpPr>
          <p:cNvPr id="101" name="Rectangle 100"/>
          <p:cNvSpPr/>
          <p:nvPr/>
        </p:nvSpPr>
        <p:spPr>
          <a:xfrm>
            <a:off x="8247888" y="4663440"/>
            <a:ext cx="2423160" cy="1463040"/>
          </a:xfrm>
          <a:prstGeom prst="rect">
            <a:avLst/>
          </a:prstGeom>
          <a:solidFill>
            <a:srgbClr val="BDD7EE"/>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339328" y="4736592"/>
            <a:ext cx="2240280" cy="457200"/>
          </a:xfrm>
          <a:prstGeom prst="rect">
            <a:avLst/>
          </a:prstGeom>
          <a:noFill/>
        </p:spPr>
        <p:txBody>
          <a:bodyPr wrap="square">
            <a:spAutoFit/>
          </a:bodyPr>
          <a:lstStyle/>
          <a:p>
            <a:pPr algn="ctr"/>
            <a:r>
              <a:rPr sz="1100" b="0" i="0">
                <a:solidFill>
                  <a:srgbClr val="595959"/>
                </a:solidFill>
                <a:latin typeface="Calibri"/>
              </a:rPr>
              <a:t>KPI Con Plan
Dic 2026</a:t>
            </a:r>
          </a:p>
        </p:txBody>
      </p:sp>
      <p:sp>
        <p:nvSpPr>
          <p:cNvPr id="103" name="TextBox 102"/>
          <p:cNvSpPr txBox="1"/>
          <p:nvPr/>
        </p:nvSpPr>
        <p:spPr>
          <a:xfrm>
            <a:off x="8293608" y="5166360"/>
            <a:ext cx="2331720" cy="685800"/>
          </a:xfrm>
          <a:prstGeom prst="rect">
            <a:avLst/>
          </a:prstGeom>
          <a:noFill/>
        </p:spPr>
        <p:txBody>
          <a:bodyPr wrap="square">
            <a:spAutoFit/>
          </a:bodyPr>
          <a:lstStyle/>
          <a:p>
            <a:pPr algn="ctr"/>
            <a:r>
              <a:rPr sz="2600" b="1" i="0">
                <a:solidFill>
                  <a:srgbClr val="2E75B6"/>
                </a:solidFill>
                <a:latin typeface="Calibri"/>
              </a:rPr>
              <a:t>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Las 6 Palancas de Ahorro</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Acciones con mayor impacto financiero  ·  Total May-Dic 2026: $113.5M COP</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5 / 8</a:t>
            </a:r>
          </a:p>
        </p:txBody>
      </p:sp>
      <p:sp>
        <p:nvSpPr>
          <p:cNvPr id="10" name="Rectangle 9"/>
          <p:cNvSpPr/>
          <p:nvPr/>
        </p:nvSpPr>
        <p:spPr>
          <a:xfrm>
            <a:off x="320040" y="1261872"/>
            <a:ext cx="3520440" cy="246888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261872"/>
            <a:ext cx="384048"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1261872"/>
            <a:ext cx="384048" cy="384048"/>
          </a:xfrm>
          <a:prstGeom prst="rect">
            <a:avLst/>
          </a:prstGeom>
          <a:noFill/>
        </p:spPr>
        <p:txBody>
          <a:bodyPr wrap="square">
            <a:spAutoFit/>
          </a:bodyPr>
          <a:lstStyle/>
          <a:p>
            <a:pPr algn="ctr"/>
            <a:r>
              <a:rPr sz="1400" b="1" i="0">
                <a:solidFill>
                  <a:srgbClr val="FFFFFF"/>
                </a:solidFill>
                <a:latin typeface="Calibri"/>
              </a:rPr>
              <a:t>1</a:t>
            </a:r>
          </a:p>
        </p:txBody>
      </p:sp>
      <p:sp>
        <p:nvSpPr>
          <p:cNvPr id="13" name="TextBox 12"/>
          <p:cNvSpPr txBox="1"/>
          <p:nvPr/>
        </p:nvSpPr>
        <p:spPr>
          <a:xfrm>
            <a:off x="777240" y="1316736"/>
            <a:ext cx="2971800" cy="347472"/>
          </a:xfrm>
          <a:prstGeom prst="rect">
            <a:avLst/>
          </a:prstGeom>
          <a:noFill/>
        </p:spPr>
        <p:txBody>
          <a:bodyPr wrap="square">
            <a:spAutoFit/>
          </a:bodyPr>
          <a:lstStyle/>
          <a:p>
            <a:pPr algn="l"/>
            <a:r>
              <a:rPr sz="1400" b="1" i="0">
                <a:solidFill>
                  <a:srgbClr val="C00000"/>
                </a:solidFill>
                <a:latin typeface="Calibri"/>
              </a:rPr>
              <a:t>Control de OT</a:t>
            </a:r>
          </a:p>
        </p:txBody>
      </p:sp>
      <p:sp>
        <p:nvSpPr>
          <p:cNvPr id="14" name="TextBox 13"/>
          <p:cNvSpPr txBox="1"/>
          <p:nvPr/>
        </p:nvSpPr>
        <p:spPr>
          <a:xfrm>
            <a:off x="429768" y="1719072"/>
            <a:ext cx="3300984" cy="868680"/>
          </a:xfrm>
          <a:prstGeom prst="rect">
            <a:avLst/>
          </a:prstGeom>
          <a:noFill/>
        </p:spPr>
        <p:txBody>
          <a:bodyPr wrap="square">
            <a:spAutoFit/>
          </a:bodyPr>
          <a:lstStyle/>
          <a:p>
            <a:pPr algn="l"/>
            <a:r>
              <a:rPr sz="1100" b="0" i="0">
                <a:solidFill>
                  <a:srgbClr val="595959"/>
                </a:solidFill>
                <a:latin typeface="Calibri"/>
              </a:rPr>
              <a:t>Aprobación escalonada
por monto. Bloquea
gastos no autorizados.</a:t>
            </a:r>
          </a:p>
        </p:txBody>
      </p:sp>
      <p:sp>
        <p:nvSpPr>
          <p:cNvPr id="15" name="Rectangle 14"/>
          <p:cNvSpPr/>
          <p:nvPr/>
        </p:nvSpPr>
        <p:spPr>
          <a:xfrm>
            <a:off x="429768" y="2679192"/>
            <a:ext cx="3300984"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2697480"/>
            <a:ext cx="3300984" cy="438912"/>
          </a:xfrm>
          <a:prstGeom prst="rect">
            <a:avLst/>
          </a:prstGeom>
          <a:noFill/>
        </p:spPr>
        <p:txBody>
          <a:bodyPr wrap="square">
            <a:spAutoFit/>
          </a:bodyPr>
          <a:lstStyle/>
          <a:p>
            <a:pPr algn="ctr"/>
            <a:r>
              <a:rPr sz="1200" b="1" i="0">
                <a:solidFill>
                  <a:srgbClr val="FFFFFF"/>
                </a:solidFill>
                <a:latin typeface="Calibri"/>
              </a:rPr>
              <a:t>$4.0M / mes
Desde Mayo</a:t>
            </a:r>
          </a:p>
        </p:txBody>
      </p:sp>
      <p:sp>
        <p:nvSpPr>
          <p:cNvPr id="17" name="TextBox 16"/>
          <p:cNvSpPr txBox="1"/>
          <p:nvPr/>
        </p:nvSpPr>
        <p:spPr>
          <a:xfrm>
            <a:off x="429768" y="3291840"/>
            <a:ext cx="3300984" cy="274320"/>
          </a:xfrm>
          <a:prstGeom prst="rect">
            <a:avLst/>
          </a:prstGeom>
          <a:noFill/>
        </p:spPr>
        <p:txBody>
          <a:bodyPr wrap="square">
            <a:spAutoFit/>
          </a:bodyPr>
          <a:lstStyle/>
          <a:p>
            <a:pPr algn="l"/>
            <a:r>
              <a:rPr sz="900" b="0" i="1">
                <a:solidFill>
                  <a:srgbClr val="375623"/>
                </a:solidFill>
                <a:latin typeface="Calibri"/>
              </a:rPr>
              <a:t>Certeza: Alta</a:t>
            </a:r>
          </a:p>
        </p:txBody>
      </p:sp>
      <p:sp>
        <p:nvSpPr>
          <p:cNvPr id="18" name="Rectangle 17"/>
          <p:cNvSpPr/>
          <p:nvPr/>
        </p:nvSpPr>
        <p:spPr>
          <a:xfrm>
            <a:off x="4114800" y="1261872"/>
            <a:ext cx="3520440" cy="246888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0" y="1261872"/>
            <a:ext cx="384048"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0" y="1261872"/>
            <a:ext cx="384048" cy="384048"/>
          </a:xfrm>
          <a:prstGeom prst="rect">
            <a:avLst/>
          </a:prstGeom>
          <a:noFill/>
        </p:spPr>
        <p:txBody>
          <a:bodyPr wrap="square">
            <a:spAutoFit/>
          </a:bodyPr>
          <a:lstStyle/>
          <a:p>
            <a:pPr algn="ctr"/>
            <a:r>
              <a:rPr sz="1400" b="1" i="0">
                <a:solidFill>
                  <a:srgbClr val="FFFFFF"/>
                </a:solidFill>
                <a:latin typeface="Calibri"/>
              </a:rPr>
              <a:t>2</a:t>
            </a:r>
          </a:p>
        </p:txBody>
      </p:sp>
      <p:sp>
        <p:nvSpPr>
          <p:cNvPr id="21" name="TextBox 20"/>
          <p:cNvSpPr txBox="1"/>
          <p:nvPr/>
        </p:nvSpPr>
        <p:spPr>
          <a:xfrm>
            <a:off x="4572000" y="1316736"/>
            <a:ext cx="2971800" cy="347472"/>
          </a:xfrm>
          <a:prstGeom prst="rect">
            <a:avLst/>
          </a:prstGeom>
          <a:noFill/>
        </p:spPr>
        <p:txBody>
          <a:bodyPr wrap="square">
            <a:spAutoFit/>
          </a:bodyPr>
          <a:lstStyle/>
          <a:p>
            <a:pPr algn="l"/>
            <a:r>
              <a:rPr sz="1400" b="1" i="0">
                <a:solidFill>
                  <a:srgbClr val="C00000"/>
                </a:solidFill>
                <a:latin typeface="Calibri"/>
              </a:rPr>
              <a:t>Reducción Temporal</a:t>
            </a:r>
          </a:p>
        </p:txBody>
      </p:sp>
      <p:sp>
        <p:nvSpPr>
          <p:cNvPr id="22" name="TextBox 21"/>
          <p:cNvSpPr txBox="1"/>
          <p:nvPr/>
        </p:nvSpPr>
        <p:spPr>
          <a:xfrm>
            <a:off x="4224528" y="1719072"/>
            <a:ext cx="3300984" cy="868680"/>
          </a:xfrm>
          <a:prstGeom prst="rect">
            <a:avLst/>
          </a:prstGeom>
          <a:noFill/>
        </p:spPr>
        <p:txBody>
          <a:bodyPr wrap="square">
            <a:spAutoFit/>
          </a:bodyPr>
          <a:lstStyle/>
          <a:p>
            <a:pPr algn="l"/>
            <a:r>
              <a:rPr sz="1100" b="0" i="0">
                <a:solidFill>
                  <a:srgbClr val="595959"/>
                </a:solidFill>
                <a:latin typeface="Calibri"/>
              </a:rPr>
              <a:t>De $15.2M/mes a
$7.5M/mes en dic.
Auditoría 3 cooperativas.</a:t>
            </a:r>
          </a:p>
        </p:txBody>
      </p:sp>
      <p:sp>
        <p:nvSpPr>
          <p:cNvPr id="23" name="Rectangle 22"/>
          <p:cNvSpPr/>
          <p:nvPr/>
        </p:nvSpPr>
        <p:spPr>
          <a:xfrm>
            <a:off x="4224528" y="2679192"/>
            <a:ext cx="3300984"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24528" y="2697480"/>
            <a:ext cx="3300984" cy="438912"/>
          </a:xfrm>
          <a:prstGeom prst="rect">
            <a:avLst/>
          </a:prstGeom>
          <a:noFill/>
        </p:spPr>
        <p:txBody>
          <a:bodyPr wrap="square">
            <a:spAutoFit/>
          </a:bodyPr>
          <a:lstStyle/>
          <a:p>
            <a:pPr algn="ctr"/>
            <a:r>
              <a:rPr sz="1200" b="1" i="0">
                <a:solidFill>
                  <a:srgbClr val="FFFFFF"/>
                </a:solidFill>
                <a:latin typeface="Calibri"/>
              </a:rPr>
              <a:t>$2.7M → $4.2M/mes
Desde Mayo</a:t>
            </a:r>
          </a:p>
        </p:txBody>
      </p:sp>
      <p:sp>
        <p:nvSpPr>
          <p:cNvPr id="25" name="TextBox 24"/>
          <p:cNvSpPr txBox="1"/>
          <p:nvPr/>
        </p:nvSpPr>
        <p:spPr>
          <a:xfrm>
            <a:off x="4224528" y="3291840"/>
            <a:ext cx="3300984" cy="274320"/>
          </a:xfrm>
          <a:prstGeom prst="rect">
            <a:avLst/>
          </a:prstGeom>
          <a:noFill/>
        </p:spPr>
        <p:txBody>
          <a:bodyPr wrap="square">
            <a:spAutoFit/>
          </a:bodyPr>
          <a:lstStyle/>
          <a:p>
            <a:pPr algn="l"/>
            <a:r>
              <a:rPr sz="900" b="0" i="1">
                <a:solidFill>
                  <a:srgbClr val="375623"/>
                </a:solidFill>
                <a:latin typeface="Calibri"/>
              </a:rPr>
              <a:t>Certeza: Alta</a:t>
            </a:r>
          </a:p>
        </p:txBody>
      </p:sp>
      <p:sp>
        <p:nvSpPr>
          <p:cNvPr id="26" name="Rectangle 25"/>
          <p:cNvSpPr/>
          <p:nvPr/>
        </p:nvSpPr>
        <p:spPr>
          <a:xfrm>
            <a:off x="7909560" y="1261872"/>
            <a:ext cx="3520440" cy="2468880"/>
          </a:xfrm>
          <a:prstGeom prst="rect">
            <a:avLst/>
          </a:prstGeom>
          <a:solidFill>
            <a:srgbClr val="FFFFFF"/>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09560" y="1261872"/>
            <a:ext cx="384048"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9560" y="1261872"/>
            <a:ext cx="384048" cy="384048"/>
          </a:xfrm>
          <a:prstGeom prst="rect">
            <a:avLst/>
          </a:prstGeom>
          <a:noFill/>
        </p:spPr>
        <p:txBody>
          <a:bodyPr wrap="square">
            <a:spAutoFit/>
          </a:bodyPr>
          <a:lstStyle/>
          <a:p>
            <a:pPr algn="ctr"/>
            <a:r>
              <a:rPr sz="1400" b="1" i="0">
                <a:solidFill>
                  <a:srgbClr val="FFFFFF"/>
                </a:solidFill>
                <a:latin typeface="Calibri"/>
              </a:rPr>
              <a:t>3</a:t>
            </a:r>
          </a:p>
        </p:txBody>
      </p:sp>
      <p:sp>
        <p:nvSpPr>
          <p:cNvPr id="29" name="TextBox 28"/>
          <p:cNvSpPr txBox="1"/>
          <p:nvPr/>
        </p:nvSpPr>
        <p:spPr>
          <a:xfrm>
            <a:off x="8366760" y="1316736"/>
            <a:ext cx="2971800" cy="347472"/>
          </a:xfrm>
          <a:prstGeom prst="rect">
            <a:avLst/>
          </a:prstGeom>
          <a:noFill/>
        </p:spPr>
        <p:txBody>
          <a:bodyPr wrap="square">
            <a:spAutoFit/>
          </a:bodyPr>
          <a:lstStyle/>
          <a:p>
            <a:pPr algn="l"/>
            <a:r>
              <a:rPr sz="1400" b="1" i="0">
                <a:solidFill>
                  <a:srgbClr val="2E75B6"/>
                </a:solidFill>
                <a:latin typeface="Calibri"/>
              </a:rPr>
              <a:t>Contratos Proveedores</a:t>
            </a:r>
          </a:p>
        </p:txBody>
      </p:sp>
      <p:sp>
        <p:nvSpPr>
          <p:cNvPr id="30" name="TextBox 29"/>
          <p:cNvSpPr txBox="1"/>
          <p:nvPr/>
        </p:nvSpPr>
        <p:spPr>
          <a:xfrm>
            <a:off x="8019288" y="1719072"/>
            <a:ext cx="3300984" cy="868680"/>
          </a:xfrm>
          <a:prstGeom prst="rect">
            <a:avLst/>
          </a:prstGeom>
          <a:noFill/>
        </p:spPr>
        <p:txBody>
          <a:bodyPr wrap="square">
            <a:spAutoFit/>
          </a:bodyPr>
          <a:lstStyle/>
          <a:p>
            <a:pPr algn="l"/>
            <a:r>
              <a:rPr sz="1100" b="0" i="0">
                <a:solidFill>
                  <a:srgbClr val="595959"/>
                </a:solidFill>
                <a:latin typeface="Calibri"/>
              </a:rPr>
              <a:t>5 contratos anuales.
Tornifer, Maquitec,
Optimoldes, IDEAS T.</a:t>
            </a:r>
          </a:p>
        </p:txBody>
      </p:sp>
      <p:sp>
        <p:nvSpPr>
          <p:cNvPr id="31" name="Rectangle 30"/>
          <p:cNvSpPr/>
          <p:nvPr/>
        </p:nvSpPr>
        <p:spPr>
          <a:xfrm>
            <a:off x="8019288" y="2679192"/>
            <a:ext cx="3300984" cy="47548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19288" y="2697480"/>
            <a:ext cx="3300984" cy="438912"/>
          </a:xfrm>
          <a:prstGeom prst="rect">
            <a:avLst/>
          </a:prstGeom>
          <a:noFill/>
        </p:spPr>
        <p:txBody>
          <a:bodyPr wrap="square">
            <a:spAutoFit/>
          </a:bodyPr>
          <a:lstStyle/>
          <a:p>
            <a:pPr algn="ctr"/>
            <a:r>
              <a:rPr sz="1200" b="1" i="0">
                <a:solidFill>
                  <a:srgbClr val="FFFFFF"/>
                </a:solidFill>
                <a:latin typeface="Calibri"/>
              </a:rPr>
              <a:t>$2.2M → $4.0M/mes
Desde Agosto</a:t>
            </a:r>
          </a:p>
        </p:txBody>
      </p:sp>
      <p:sp>
        <p:nvSpPr>
          <p:cNvPr id="33" name="TextBox 32"/>
          <p:cNvSpPr txBox="1"/>
          <p:nvPr/>
        </p:nvSpPr>
        <p:spPr>
          <a:xfrm>
            <a:off x="8019288" y="3291840"/>
            <a:ext cx="3300984" cy="274320"/>
          </a:xfrm>
          <a:prstGeom prst="rect">
            <a:avLst/>
          </a:prstGeom>
          <a:noFill/>
        </p:spPr>
        <p:txBody>
          <a:bodyPr wrap="square">
            <a:spAutoFit/>
          </a:bodyPr>
          <a:lstStyle/>
          <a:p>
            <a:pPr algn="l"/>
            <a:r>
              <a:rPr sz="900" b="0" i="1">
                <a:solidFill>
                  <a:srgbClr val="7F6000"/>
                </a:solidFill>
                <a:latin typeface="Calibri"/>
              </a:rPr>
              <a:t>Certeza: Media-Alta</a:t>
            </a:r>
          </a:p>
        </p:txBody>
      </p:sp>
      <p:sp>
        <p:nvSpPr>
          <p:cNvPr id="34" name="Rectangle 33"/>
          <p:cNvSpPr/>
          <p:nvPr/>
        </p:nvSpPr>
        <p:spPr>
          <a:xfrm>
            <a:off x="320040" y="3931920"/>
            <a:ext cx="3520440" cy="2468880"/>
          </a:xfrm>
          <a:prstGeom prst="rect">
            <a:avLst/>
          </a:prstGeom>
          <a:solidFill>
            <a:srgbClr val="FFFFFF"/>
          </a:solidFill>
          <a:ln w="254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 y="3931920"/>
            <a:ext cx="384048"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3931920"/>
            <a:ext cx="384048" cy="384048"/>
          </a:xfrm>
          <a:prstGeom prst="rect">
            <a:avLst/>
          </a:prstGeom>
          <a:noFill/>
        </p:spPr>
        <p:txBody>
          <a:bodyPr wrap="square">
            <a:spAutoFit/>
          </a:bodyPr>
          <a:lstStyle/>
          <a:p>
            <a:pPr algn="ctr"/>
            <a:r>
              <a:rPr sz="1400" b="1" i="0">
                <a:solidFill>
                  <a:srgbClr val="FFFFFF"/>
                </a:solidFill>
                <a:latin typeface="Calibri"/>
              </a:rPr>
              <a:t>4</a:t>
            </a:r>
          </a:p>
        </p:txBody>
      </p:sp>
      <p:sp>
        <p:nvSpPr>
          <p:cNvPr id="37" name="TextBox 36"/>
          <p:cNvSpPr txBox="1"/>
          <p:nvPr/>
        </p:nvSpPr>
        <p:spPr>
          <a:xfrm>
            <a:off x="777240" y="3986784"/>
            <a:ext cx="2971800" cy="347472"/>
          </a:xfrm>
          <a:prstGeom prst="rect">
            <a:avLst/>
          </a:prstGeom>
          <a:noFill/>
        </p:spPr>
        <p:txBody>
          <a:bodyPr wrap="square">
            <a:spAutoFit/>
          </a:bodyPr>
          <a:lstStyle/>
          <a:p>
            <a:pPr algn="l"/>
            <a:r>
              <a:rPr sz="1400" b="1" i="0">
                <a:solidFill>
                  <a:srgbClr val="2E75B6"/>
                </a:solidFill>
                <a:latin typeface="Calibri"/>
              </a:rPr>
              <a:t>Stock Repuestos</a:t>
            </a:r>
          </a:p>
        </p:txBody>
      </p:sp>
      <p:sp>
        <p:nvSpPr>
          <p:cNvPr id="38" name="TextBox 37"/>
          <p:cNvSpPr txBox="1"/>
          <p:nvPr/>
        </p:nvSpPr>
        <p:spPr>
          <a:xfrm>
            <a:off x="429768" y="4389120"/>
            <a:ext cx="3300984" cy="868680"/>
          </a:xfrm>
          <a:prstGeom prst="rect">
            <a:avLst/>
          </a:prstGeom>
          <a:noFill/>
        </p:spPr>
        <p:txBody>
          <a:bodyPr wrap="square">
            <a:spAutoFit/>
          </a:bodyPr>
          <a:lstStyle/>
          <a:p>
            <a:pPr algn="l"/>
            <a:r>
              <a:rPr sz="1100" b="0" i="0">
                <a:solidFill>
                  <a:srgbClr val="595959"/>
                </a:solidFill>
                <a:latin typeface="Calibri"/>
              </a:rPr>
              <a:t>Elimina recargo 30%
en compras emergencia.
$45M inversión.</a:t>
            </a:r>
          </a:p>
        </p:txBody>
      </p:sp>
      <p:sp>
        <p:nvSpPr>
          <p:cNvPr id="39" name="Rectangle 38"/>
          <p:cNvSpPr/>
          <p:nvPr/>
        </p:nvSpPr>
        <p:spPr>
          <a:xfrm>
            <a:off x="429768" y="5349240"/>
            <a:ext cx="3300984" cy="47548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9768" y="5367528"/>
            <a:ext cx="3300984" cy="438912"/>
          </a:xfrm>
          <a:prstGeom prst="rect">
            <a:avLst/>
          </a:prstGeom>
          <a:noFill/>
        </p:spPr>
        <p:txBody>
          <a:bodyPr wrap="square">
            <a:spAutoFit/>
          </a:bodyPr>
          <a:lstStyle/>
          <a:p>
            <a:pPr algn="ctr"/>
            <a:r>
              <a:rPr sz="1200" b="1" i="0">
                <a:solidFill>
                  <a:srgbClr val="FFFFFF"/>
                </a:solidFill>
                <a:latin typeface="Calibri"/>
              </a:rPr>
              <a:t>$2.25M / mes
Desde Septiembre</a:t>
            </a:r>
          </a:p>
        </p:txBody>
      </p:sp>
      <p:sp>
        <p:nvSpPr>
          <p:cNvPr id="41" name="TextBox 40"/>
          <p:cNvSpPr txBox="1"/>
          <p:nvPr/>
        </p:nvSpPr>
        <p:spPr>
          <a:xfrm>
            <a:off x="429768" y="5961888"/>
            <a:ext cx="3300984" cy="274320"/>
          </a:xfrm>
          <a:prstGeom prst="rect">
            <a:avLst/>
          </a:prstGeom>
          <a:noFill/>
        </p:spPr>
        <p:txBody>
          <a:bodyPr wrap="square">
            <a:spAutoFit/>
          </a:bodyPr>
          <a:lstStyle/>
          <a:p>
            <a:pPr algn="l"/>
            <a:r>
              <a:rPr sz="900" b="0" i="1">
                <a:solidFill>
                  <a:srgbClr val="375623"/>
                </a:solidFill>
                <a:latin typeface="Calibri"/>
              </a:rPr>
              <a:t>Certeza: Alta</a:t>
            </a:r>
          </a:p>
        </p:txBody>
      </p:sp>
      <p:sp>
        <p:nvSpPr>
          <p:cNvPr id="42" name="Rectangle 41"/>
          <p:cNvSpPr/>
          <p:nvPr/>
        </p:nvSpPr>
        <p:spPr>
          <a:xfrm>
            <a:off x="4114800" y="3931920"/>
            <a:ext cx="3520440" cy="2468880"/>
          </a:xfrm>
          <a:prstGeom prst="rect">
            <a:avLst/>
          </a:prstGeom>
          <a:solidFill>
            <a:srgbClr val="FFFFFF"/>
          </a:solidFill>
          <a:ln w="25400">
            <a:solidFill>
              <a:srgbClr val="375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14800" y="3931920"/>
            <a:ext cx="384048" cy="384048"/>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0" y="3931920"/>
            <a:ext cx="384048" cy="384048"/>
          </a:xfrm>
          <a:prstGeom prst="rect">
            <a:avLst/>
          </a:prstGeom>
          <a:noFill/>
        </p:spPr>
        <p:txBody>
          <a:bodyPr wrap="square">
            <a:spAutoFit/>
          </a:bodyPr>
          <a:lstStyle/>
          <a:p>
            <a:pPr algn="ctr"/>
            <a:r>
              <a:rPr sz="1400" b="1" i="0">
                <a:solidFill>
                  <a:srgbClr val="FFFFFF"/>
                </a:solidFill>
                <a:latin typeface="Calibri"/>
              </a:rPr>
              <a:t>5</a:t>
            </a:r>
          </a:p>
        </p:txBody>
      </p:sp>
      <p:sp>
        <p:nvSpPr>
          <p:cNvPr id="45" name="TextBox 44"/>
          <p:cNvSpPr txBox="1"/>
          <p:nvPr/>
        </p:nvSpPr>
        <p:spPr>
          <a:xfrm>
            <a:off x="4572000" y="3986784"/>
            <a:ext cx="2971800" cy="347472"/>
          </a:xfrm>
          <a:prstGeom prst="rect">
            <a:avLst/>
          </a:prstGeom>
          <a:noFill/>
        </p:spPr>
        <p:txBody>
          <a:bodyPr wrap="square">
            <a:spAutoFit/>
          </a:bodyPr>
          <a:lstStyle/>
          <a:p>
            <a:pPr algn="l"/>
            <a:r>
              <a:rPr sz="1400" b="1" i="0">
                <a:solidFill>
                  <a:srgbClr val="375623"/>
                </a:solidFill>
                <a:latin typeface="Calibri"/>
              </a:rPr>
              <a:t>Plan Preventivo</a:t>
            </a:r>
          </a:p>
        </p:txBody>
      </p:sp>
      <p:sp>
        <p:nvSpPr>
          <p:cNvPr id="46" name="TextBox 45"/>
          <p:cNvSpPr txBox="1"/>
          <p:nvPr/>
        </p:nvSpPr>
        <p:spPr>
          <a:xfrm>
            <a:off x="4224528" y="4389120"/>
            <a:ext cx="3300984" cy="868680"/>
          </a:xfrm>
          <a:prstGeom prst="rect">
            <a:avLst/>
          </a:prstGeom>
          <a:noFill/>
        </p:spPr>
        <p:txBody>
          <a:bodyPr wrap="square">
            <a:spAutoFit/>
          </a:bodyPr>
          <a:lstStyle/>
          <a:p>
            <a:pPr algn="l"/>
            <a:r>
              <a:rPr sz="1100" b="0" i="0">
                <a:solidFill>
                  <a:srgbClr val="595959"/>
                </a:solidFill>
                <a:latin typeface="Calibri"/>
              </a:rPr>
              <a:t>PMP para 15+ equipos.
Meta: 60% preventivo
en diciembre.</a:t>
            </a:r>
          </a:p>
        </p:txBody>
      </p:sp>
      <p:sp>
        <p:nvSpPr>
          <p:cNvPr id="47" name="Rectangle 46"/>
          <p:cNvSpPr/>
          <p:nvPr/>
        </p:nvSpPr>
        <p:spPr>
          <a:xfrm>
            <a:off x="4224528" y="5349240"/>
            <a:ext cx="3300984" cy="475488"/>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24528" y="5367528"/>
            <a:ext cx="3300984" cy="438912"/>
          </a:xfrm>
          <a:prstGeom prst="rect">
            <a:avLst/>
          </a:prstGeom>
          <a:noFill/>
        </p:spPr>
        <p:txBody>
          <a:bodyPr wrap="square">
            <a:spAutoFit/>
          </a:bodyPr>
          <a:lstStyle/>
          <a:p>
            <a:pPr algn="ctr"/>
            <a:r>
              <a:rPr sz="1200" b="1" i="0">
                <a:solidFill>
                  <a:srgbClr val="FFFFFF"/>
                </a:solidFill>
                <a:latin typeface="Calibri"/>
              </a:rPr>
              <a:t>$5.0M → $8.5M/mes
Desde Septiembre</a:t>
            </a:r>
          </a:p>
        </p:txBody>
      </p:sp>
      <p:sp>
        <p:nvSpPr>
          <p:cNvPr id="49" name="TextBox 48"/>
          <p:cNvSpPr txBox="1"/>
          <p:nvPr/>
        </p:nvSpPr>
        <p:spPr>
          <a:xfrm>
            <a:off x="4224528" y="5961888"/>
            <a:ext cx="3300984" cy="274320"/>
          </a:xfrm>
          <a:prstGeom prst="rect">
            <a:avLst/>
          </a:prstGeom>
          <a:noFill/>
        </p:spPr>
        <p:txBody>
          <a:bodyPr wrap="square">
            <a:spAutoFit/>
          </a:bodyPr>
          <a:lstStyle/>
          <a:p>
            <a:pPr algn="l"/>
            <a:r>
              <a:rPr sz="900" b="0" i="1">
                <a:solidFill>
                  <a:srgbClr val="7F6000"/>
                </a:solidFill>
                <a:latin typeface="Calibri"/>
              </a:rPr>
              <a:t>Certeza: Media</a:t>
            </a:r>
          </a:p>
        </p:txBody>
      </p:sp>
      <p:sp>
        <p:nvSpPr>
          <p:cNvPr id="50" name="Rectangle 49"/>
          <p:cNvSpPr/>
          <p:nvPr/>
        </p:nvSpPr>
        <p:spPr>
          <a:xfrm>
            <a:off x="7909560" y="3931920"/>
            <a:ext cx="3520440" cy="2468880"/>
          </a:xfrm>
          <a:prstGeom prst="rect">
            <a:avLst/>
          </a:prstGeom>
          <a:solidFill>
            <a:srgbClr val="FFFFFF"/>
          </a:solidFill>
          <a:ln w="25400">
            <a:solidFill>
              <a:srgbClr val="375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09560" y="3931920"/>
            <a:ext cx="384048" cy="384048"/>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09560" y="3931920"/>
            <a:ext cx="384048" cy="384048"/>
          </a:xfrm>
          <a:prstGeom prst="rect">
            <a:avLst/>
          </a:prstGeom>
          <a:noFill/>
        </p:spPr>
        <p:txBody>
          <a:bodyPr wrap="square">
            <a:spAutoFit/>
          </a:bodyPr>
          <a:lstStyle/>
          <a:p>
            <a:pPr algn="ctr"/>
            <a:r>
              <a:rPr sz="1400" b="1" i="0">
                <a:solidFill>
                  <a:srgbClr val="FFFFFF"/>
                </a:solidFill>
                <a:latin typeface="Calibri"/>
              </a:rPr>
              <a:t>6</a:t>
            </a:r>
          </a:p>
        </p:txBody>
      </p:sp>
      <p:sp>
        <p:nvSpPr>
          <p:cNvPr id="53" name="TextBox 52"/>
          <p:cNvSpPr txBox="1"/>
          <p:nvPr/>
        </p:nvSpPr>
        <p:spPr>
          <a:xfrm>
            <a:off x="8366760" y="3986784"/>
            <a:ext cx="2971800" cy="347472"/>
          </a:xfrm>
          <a:prstGeom prst="rect">
            <a:avLst/>
          </a:prstGeom>
          <a:noFill/>
        </p:spPr>
        <p:txBody>
          <a:bodyPr wrap="square">
            <a:spAutoFit/>
          </a:bodyPr>
          <a:lstStyle/>
          <a:p>
            <a:pPr algn="l"/>
            <a:r>
              <a:rPr sz="1400" b="1" i="0">
                <a:solidFill>
                  <a:srgbClr val="375623"/>
                </a:solidFill>
                <a:latin typeface="Calibri"/>
              </a:rPr>
              <a:t>Pico Inyección Mar.</a:t>
            </a:r>
          </a:p>
        </p:txBody>
      </p:sp>
      <p:sp>
        <p:nvSpPr>
          <p:cNvPr id="54" name="TextBox 53"/>
          <p:cNvSpPr txBox="1"/>
          <p:nvPr/>
        </p:nvSpPr>
        <p:spPr>
          <a:xfrm>
            <a:off x="8019288" y="4389120"/>
            <a:ext cx="3300984" cy="868680"/>
          </a:xfrm>
          <a:prstGeom prst="rect">
            <a:avLst/>
          </a:prstGeom>
          <a:noFill/>
        </p:spPr>
        <p:txBody>
          <a:bodyPr wrap="square">
            <a:spAutoFit/>
          </a:bodyPr>
          <a:lstStyle/>
          <a:p>
            <a:pPr algn="l"/>
            <a:r>
              <a:rPr sz="1100" b="0" i="0">
                <a:solidFill>
                  <a:srgbClr val="595959"/>
                </a:solidFill>
                <a:latin typeface="Calibri"/>
              </a:rPr>
              <a:t>Contador de ciclos.
Distribuir $59M en
6 cuotas preventivas.</a:t>
            </a:r>
          </a:p>
        </p:txBody>
      </p:sp>
      <p:sp>
        <p:nvSpPr>
          <p:cNvPr id="55" name="Rectangle 54"/>
          <p:cNvSpPr/>
          <p:nvPr/>
        </p:nvSpPr>
        <p:spPr>
          <a:xfrm>
            <a:off x="8019288" y="5349240"/>
            <a:ext cx="3300984" cy="475488"/>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19288" y="5367528"/>
            <a:ext cx="3300984" cy="438912"/>
          </a:xfrm>
          <a:prstGeom prst="rect">
            <a:avLst/>
          </a:prstGeom>
          <a:noFill/>
        </p:spPr>
        <p:txBody>
          <a:bodyPr wrap="square">
            <a:spAutoFit/>
          </a:bodyPr>
          <a:lstStyle/>
          <a:p>
            <a:pPr algn="ctr"/>
            <a:r>
              <a:rPr sz="1200" b="1" i="0">
                <a:solidFill>
                  <a:srgbClr val="FFFFFF"/>
                </a:solidFill>
                <a:latin typeface="Calibri"/>
              </a:rPr>
              <a:t>$35-45M evitados
en Marzo 2027</a:t>
            </a:r>
          </a:p>
        </p:txBody>
      </p:sp>
      <p:sp>
        <p:nvSpPr>
          <p:cNvPr id="57" name="TextBox 56"/>
          <p:cNvSpPr txBox="1"/>
          <p:nvPr/>
        </p:nvSpPr>
        <p:spPr>
          <a:xfrm>
            <a:off x="8019288" y="5961888"/>
            <a:ext cx="3300984" cy="274320"/>
          </a:xfrm>
          <a:prstGeom prst="rect">
            <a:avLst/>
          </a:prstGeom>
          <a:noFill/>
        </p:spPr>
        <p:txBody>
          <a:bodyPr wrap="square">
            <a:spAutoFit/>
          </a:bodyPr>
          <a:lstStyle/>
          <a:p>
            <a:pPr algn="l"/>
            <a:r>
              <a:rPr sz="900" b="0" i="1">
                <a:solidFill>
                  <a:srgbClr val="7F6000"/>
                </a:solidFill>
                <a:latin typeface="Calibri"/>
              </a:rPr>
              <a:t>Certeza: Media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ROI del Plan: Inversión vs. Retorno</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Análisis financiero completo  ·  La inversión se recupera en Octubre 2026</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6 / 8</a:t>
            </a:r>
          </a:p>
        </p:txBody>
      </p:sp>
      <p:sp>
        <p:nvSpPr>
          <p:cNvPr id="10" name="Rectangle 9"/>
          <p:cNvSpPr/>
          <p:nvPr/>
        </p:nvSpPr>
        <p:spPr>
          <a:xfrm>
            <a:off x="320040" y="1261872"/>
            <a:ext cx="5303520" cy="5074920"/>
          </a:xfrm>
          <a:prstGeom prst="rect">
            <a:avLst/>
          </a:prstGeom>
          <a:solidFill>
            <a:srgbClr val="FFDCDC"/>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261872"/>
            <a:ext cx="5303520"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280160"/>
            <a:ext cx="5120640" cy="411480"/>
          </a:xfrm>
          <a:prstGeom prst="rect">
            <a:avLst/>
          </a:prstGeom>
          <a:noFill/>
        </p:spPr>
        <p:txBody>
          <a:bodyPr wrap="square">
            <a:spAutoFit/>
          </a:bodyPr>
          <a:lstStyle/>
          <a:p>
            <a:pPr algn="ctr"/>
            <a:r>
              <a:rPr sz="1500" b="1" i="0">
                <a:solidFill>
                  <a:srgbClr val="FFFFFF"/>
                </a:solidFill>
                <a:latin typeface="Calibri"/>
              </a:rPr>
              <a:t>INVERSIÓN REQUERIDA</a:t>
            </a:r>
          </a:p>
        </p:txBody>
      </p:sp>
      <p:sp>
        <p:nvSpPr>
          <p:cNvPr id="13" name="TextBox 12"/>
          <p:cNvSpPr txBox="1"/>
          <p:nvPr/>
        </p:nvSpPr>
        <p:spPr>
          <a:xfrm>
            <a:off x="502920" y="1929383"/>
            <a:ext cx="2560320" cy="320040"/>
          </a:xfrm>
          <a:prstGeom prst="rect">
            <a:avLst/>
          </a:prstGeom>
          <a:noFill/>
        </p:spPr>
        <p:txBody>
          <a:bodyPr wrap="square">
            <a:spAutoFit/>
          </a:bodyPr>
          <a:lstStyle/>
          <a:p>
            <a:pPr algn="l"/>
            <a:r>
              <a:rPr sz="1300" b="0" i="0">
                <a:solidFill>
                  <a:srgbClr val="000000"/>
                </a:solidFill>
                <a:latin typeface="Calibri"/>
              </a:rPr>
              <a:t>Stock repuestos críticos</a:t>
            </a:r>
          </a:p>
        </p:txBody>
      </p:sp>
      <p:sp>
        <p:nvSpPr>
          <p:cNvPr id="14" name="TextBox 13"/>
          <p:cNvSpPr txBox="1"/>
          <p:nvPr/>
        </p:nvSpPr>
        <p:spPr>
          <a:xfrm>
            <a:off x="3108960" y="1929383"/>
            <a:ext cx="1645920" cy="320040"/>
          </a:xfrm>
          <a:prstGeom prst="rect">
            <a:avLst/>
          </a:prstGeom>
          <a:noFill/>
        </p:spPr>
        <p:txBody>
          <a:bodyPr wrap="square">
            <a:spAutoFit/>
          </a:bodyPr>
          <a:lstStyle/>
          <a:p>
            <a:pPr algn="r"/>
            <a:r>
              <a:rPr sz="1400" b="1" i="0">
                <a:solidFill>
                  <a:srgbClr val="C00000"/>
                </a:solidFill>
                <a:latin typeface="Calibri"/>
              </a:rPr>
              <a:t>$45,000,000</a:t>
            </a:r>
          </a:p>
        </p:txBody>
      </p:sp>
      <p:sp>
        <p:nvSpPr>
          <p:cNvPr id="15" name="TextBox 14"/>
          <p:cNvSpPr txBox="1"/>
          <p:nvPr/>
        </p:nvSpPr>
        <p:spPr>
          <a:xfrm>
            <a:off x="502920" y="2258567"/>
            <a:ext cx="4663440" cy="274320"/>
          </a:xfrm>
          <a:prstGeom prst="rect">
            <a:avLst/>
          </a:prstGeom>
          <a:noFill/>
        </p:spPr>
        <p:txBody>
          <a:bodyPr wrap="square">
            <a:spAutoFit/>
          </a:bodyPr>
          <a:lstStyle/>
          <a:p>
            <a:pPr algn="l"/>
            <a:r>
              <a:rPr sz="900" b="0" i="1">
                <a:solidFill>
                  <a:srgbClr val="595959"/>
                </a:solidFill>
                <a:latin typeface="Calibri"/>
              </a:rPr>
              <a:t>(activo en balance — no es gasto)</a:t>
            </a:r>
          </a:p>
        </p:txBody>
      </p:sp>
      <p:sp>
        <p:nvSpPr>
          <p:cNvPr id="16" name="TextBox 15"/>
          <p:cNvSpPr txBox="1"/>
          <p:nvPr/>
        </p:nvSpPr>
        <p:spPr>
          <a:xfrm>
            <a:off x="502920" y="2706623"/>
            <a:ext cx="2560320" cy="320040"/>
          </a:xfrm>
          <a:prstGeom prst="rect">
            <a:avLst/>
          </a:prstGeom>
          <a:noFill/>
        </p:spPr>
        <p:txBody>
          <a:bodyPr wrap="square">
            <a:spAutoFit/>
          </a:bodyPr>
          <a:lstStyle/>
          <a:p>
            <a:pPr algn="l"/>
            <a:r>
              <a:rPr sz="1300" b="0" i="0">
                <a:solidFill>
                  <a:srgbClr val="000000"/>
                </a:solidFill>
                <a:latin typeface="Calibri"/>
              </a:rPr>
              <a:t>CMMS / módulo PM en ERP</a:t>
            </a:r>
          </a:p>
        </p:txBody>
      </p:sp>
      <p:sp>
        <p:nvSpPr>
          <p:cNvPr id="17" name="TextBox 16"/>
          <p:cNvSpPr txBox="1"/>
          <p:nvPr/>
        </p:nvSpPr>
        <p:spPr>
          <a:xfrm>
            <a:off x="3108960" y="2706623"/>
            <a:ext cx="1645920" cy="320040"/>
          </a:xfrm>
          <a:prstGeom prst="rect">
            <a:avLst/>
          </a:prstGeom>
          <a:noFill/>
        </p:spPr>
        <p:txBody>
          <a:bodyPr wrap="square">
            <a:spAutoFit/>
          </a:bodyPr>
          <a:lstStyle/>
          <a:p>
            <a:pPr algn="r"/>
            <a:r>
              <a:rPr sz="1400" b="1" i="0">
                <a:solidFill>
                  <a:srgbClr val="C00000"/>
                </a:solidFill>
                <a:latin typeface="Calibri"/>
              </a:rPr>
              <a:t>$5,000,000</a:t>
            </a:r>
          </a:p>
        </p:txBody>
      </p:sp>
      <p:sp>
        <p:nvSpPr>
          <p:cNvPr id="18" name="TextBox 17"/>
          <p:cNvSpPr txBox="1"/>
          <p:nvPr/>
        </p:nvSpPr>
        <p:spPr>
          <a:xfrm>
            <a:off x="502920" y="3035807"/>
            <a:ext cx="4663440" cy="274320"/>
          </a:xfrm>
          <a:prstGeom prst="rect">
            <a:avLst/>
          </a:prstGeom>
          <a:noFill/>
        </p:spPr>
        <p:txBody>
          <a:bodyPr wrap="square">
            <a:spAutoFit/>
          </a:bodyPr>
          <a:lstStyle/>
          <a:p>
            <a:pPr algn="l"/>
            <a:r>
              <a:rPr sz="900" b="0" i="1">
                <a:solidFill>
                  <a:srgbClr val="595959"/>
                </a:solidFill>
                <a:latin typeface="Calibri"/>
              </a:rPr>
              <a:t>(SaaS o módulo existente)</a:t>
            </a:r>
          </a:p>
        </p:txBody>
      </p:sp>
      <p:sp>
        <p:nvSpPr>
          <p:cNvPr id="19" name="TextBox 18"/>
          <p:cNvSpPr txBox="1"/>
          <p:nvPr/>
        </p:nvSpPr>
        <p:spPr>
          <a:xfrm>
            <a:off x="502920" y="3483863"/>
            <a:ext cx="2560320" cy="320040"/>
          </a:xfrm>
          <a:prstGeom prst="rect">
            <a:avLst/>
          </a:prstGeom>
          <a:noFill/>
        </p:spPr>
        <p:txBody>
          <a:bodyPr wrap="square">
            <a:spAutoFit/>
          </a:bodyPr>
          <a:lstStyle/>
          <a:p>
            <a:pPr algn="l"/>
            <a:r>
              <a:rPr sz="1300" b="0" i="0">
                <a:solidFill>
                  <a:srgbClr val="000000"/>
                </a:solidFill>
                <a:latin typeface="Calibri"/>
              </a:rPr>
              <a:t>Capacitación RCM</a:t>
            </a:r>
          </a:p>
        </p:txBody>
      </p:sp>
      <p:sp>
        <p:nvSpPr>
          <p:cNvPr id="20" name="TextBox 19"/>
          <p:cNvSpPr txBox="1"/>
          <p:nvPr/>
        </p:nvSpPr>
        <p:spPr>
          <a:xfrm>
            <a:off x="3108960" y="3483863"/>
            <a:ext cx="1645920" cy="320040"/>
          </a:xfrm>
          <a:prstGeom prst="rect">
            <a:avLst/>
          </a:prstGeom>
          <a:noFill/>
        </p:spPr>
        <p:txBody>
          <a:bodyPr wrap="square">
            <a:spAutoFit/>
          </a:bodyPr>
          <a:lstStyle/>
          <a:p>
            <a:pPr algn="r"/>
            <a:r>
              <a:rPr sz="1400" b="1" i="0">
                <a:solidFill>
                  <a:srgbClr val="C00000"/>
                </a:solidFill>
                <a:latin typeface="Calibri"/>
              </a:rPr>
              <a:t>$3,000,000</a:t>
            </a:r>
          </a:p>
        </p:txBody>
      </p:sp>
      <p:sp>
        <p:nvSpPr>
          <p:cNvPr id="21" name="TextBox 20"/>
          <p:cNvSpPr txBox="1"/>
          <p:nvPr/>
        </p:nvSpPr>
        <p:spPr>
          <a:xfrm>
            <a:off x="502920" y="3813047"/>
            <a:ext cx="4663440" cy="274320"/>
          </a:xfrm>
          <a:prstGeom prst="rect">
            <a:avLst/>
          </a:prstGeom>
          <a:noFill/>
        </p:spPr>
        <p:txBody>
          <a:bodyPr wrap="square">
            <a:spAutoFit/>
          </a:bodyPr>
          <a:lstStyle/>
          <a:p>
            <a:pPr algn="l"/>
            <a:r>
              <a:rPr sz="900" b="0" i="1">
                <a:solidFill>
                  <a:srgbClr val="595959"/>
                </a:solidFill>
                <a:latin typeface="Calibri"/>
              </a:rPr>
              <a:t>(técnicos de mantenimiento)</a:t>
            </a:r>
          </a:p>
        </p:txBody>
      </p:sp>
      <p:sp>
        <p:nvSpPr>
          <p:cNvPr id="22" name="Rectangle 21"/>
          <p:cNvSpPr/>
          <p:nvPr/>
        </p:nvSpPr>
        <p:spPr>
          <a:xfrm>
            <a:off x="411480" y="4206239"/>
            <a:ext cx="5120640" cy="6400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261103"/>
            <a:ext cx="2560320" cy="320040"/>
          </a:xfrm>
          <a:prstGeom prst="rect">
            <a:avLst/>
          </a:prstGeom>
          <a:noFill/>
        </p:spPr>
        <p:txBody>
          <a:bodyPr wrap="square">
            <a:spAutoFit/>
          </a:bodyPr>
          <a:lstStyle/>
          <a:p>
            <a:pPr algn="l"/>
            <a:r>
              <a:rPr sz="1300" b="1" i="0">
                <a:solidFill>
                  <a:srgbClr val="FFFFFF"/>
                </a:solidFill>
                <a:latin typeface="Calibri"/>
              </a:rPr>
              <a:t>TOTAL</a:t>
            </a:r>
          </a:p>
        </p:txBody>
      </p:sp>
      <p:sp>
        <p:nvSpPr>
          <p:cNvPr id="24" name="TextBox 23"/>
          <p:cNvSpPr txBox="1"/>
          <p:nvPr/>
        </p:nvSpPr>
        <p:spPr>
          <a:xfrm>
            <a:off x="3108960" y="4261103"/>
            <a:ext cx="1645920" cy="320040"/>
          </a:xfrm>
          <a:prstGeom prst="rect">
            <a:avLst/>
          </a:prstGeom>
          <a:noFill/>
        </p:spPr>
        <p:txBody>
          <a:bodyPr wrap="square">
            <a:spAutoFit/>
          </a:bodyPr>
          <a:lstStyle/>
          <a:p>
            <a:pPr algn="r"/>
            <a:r>
              <a:rPr sz="1400" b="1" i="0">
                <a:solidFill>
                  <a:srgbClr val="FFFFFF"/>
                </a:solidFill>
                <a:latin typeface="Calibri"/>
              </a:rPr>
              <a:t>$53,000,000</a:t>
            </a:r>
          </a:p>
        </p:txBody>
      </p:sp>
      <p:sp>
        <p:nvSpPr>
          <p:cNvPr id="25" name="Rectangle 24"/>
          <p:cNvSpPr/>
          <p:nvPr/>
        </p:nvSpPr>
        <p:spPr>
          <a:xfrm>
            <a:off x="5943600" y="1261872"/>
            <a:ext cx="5925312" cy="5074920"/>
          </a:xfrm>
          <a:prstGeom prst="rect">
            <a:avLst/>
          </a:prstGeom>
          <a:solidFill>
            <a:srgbClr val="E2EFDA"/>
          </a:solidFill>
          <a:ln w="25400">
            <a:solidFill>
              <a:srgbClr val="375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261872"/>
            <a:ext cx="5925312" cy="475488"/>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1280160"/>
            <a:ext cx="5742432" cy="411480"/>
          </a:xfrm>
          <a:prstGeom prst="rect">
            <a:avLst/>
          </a:prstGeom>
          <a:noFill/>
        </p:spPr>
        <p:txBody>
          <a:bodyPr wrap="square">
            <a:spAutoFit/>
          </a:bodyPr>
          <a:lstStyle/>
          <a:p>
            <a:pPr algn="ctr"/>
            <a:r>
              <a:rPr sz="1500" b="1" i="0">
                <a:solidFill>
                  <a:srgbClr val="FFFFFF"/>
                </a:solidFill>
                <a:latin typeface="Calibri"/>
              </a:rPr>
              <a:t>RETORNO DEL PLAN</a:t>
            </a:r>
          </a:p>
        </p:txBody>
      </p:sp>
      <p:sp>
        <p:nvSpPr>
          <p:cNvPr id="28" name="TextBox 27"/>
          <p:cNvSpPr txBox="1"/>
          <p:nvPr/>
        </p:nvSpPr>
        <p:spPr>
          <a:xfrm>
            <a:off x="6080760" y="1911095"/>
            <a:ext cx="3200400" cy="320040"/>
          </a:xfrm>
          <a:prstGeom prst="rect">
            <a:avLst/>
          </a:prstGeom>
          <a:noFill/>
        </p:spPr>
        <p:txBody>
          <a:bodyPr wrap="square">
            <a:spAutoFit/>
          </a:bodyPr>
          <a:lstStyle/>
          <a:p>
            <a:pPr algn="l"/>
            <a:r>
              <a:rPr sz="1300" b="0" i="0">
                <a:solidFill>
                  <a:srgbClr val="000000"/>
                </a:solidFill>
                <a:latin typeface="Calibri"/>
              </a:rPr>
              <a:t>Ahorros May-Dic 2026</a:t>
            </a:r>
          </a:p>
        </p:txBody>
      </p:sp>
      <p:sp>
        <p:nvSpPr>
          <p:cNvPr id="29" name="TextBox 28"/>
          <p:cNvSpPr txBox="1"/>
          <p:nvPr/>
        </p:nvSpPr>
        <p:spPr>
          <a:xfrm>
            <a:off x="9326880" y="1911095"/>
            <a:ext cx="2286000" cy="320040"/>
          </a:xfrm>
          <a:prstGeom prst="rect">
            <a:avLst/>
          </a:prstGeom>
          <a:noFill/>
        </p:spPr>
        <p:txBody>
          <a:bodyPr wrap="square">
            <a:spAutoFit/>
          </a:bodyPr>
          <a:lstStyle/>
          <a:p>
            <a:pPr algn="r"/>
            <a:r>
              <a:rPr sz="1400" b="1" i="0">
                <a:solidFill>
                  <a:srgbClr val="375623"/>
                </a:solidFill>
                <a:latin typeface="Calibri"/>
              </a:rPr>
              <a:t>$113,500,000</a:t>
            </a:r>
          </a:p>
        </p:txBody>
      </p:sp>
      <p:sp>
        <p:nvSpPr>
          <p:cNvPr id="30" name="TextBox 29"/>
          <p:cNvSpPr txBox="1"/>
          <p:nvPr/>
        </p:nvSpPr>
        <p:spPr>
          <a:xfrm>
            <a:off x="6080760" y="2624327"/>
            <a:ext cx="3200400" cy="320040"/>
          </a:xfrm>
          <a:prstGeom prst="rect">
            <a:avLst/>
          </a:prstGeom>
          <a:noFill/>
        </p:spPr>
        <p:txBody>
          <a:bodyPr wrap="square">
            <a:spAutoFit/>
          </a:bodyPr>
          <a:lstStyle/>
          <a:p>
            <a:pPr algn="l"/>
            <a:r>
              <a:rPr sz="1300" b="0" i="0">
                <a:solidFill>
                  <a:srgbClr val="000000"/>
                </a:solidFill>
                <a:latin typeface="Calibri"/>
              </a:rPr>
              <a:t>Inversión requerida</a:t>
            </a:r>
          </a:p>
        </p:txBody>
      </p:sp>
      <p:sp>
        <p:nvSpPr>
          <p:cNvPr id="31" name="TextBox 30"/>
          <p:cNvSpPr txBox="1"/>
          <p:nvPr/>
        </p:nvSpPr>
        <p:spPr>
          <a:xfrm>
            <a:off x="9326880" y="2624327"/>
            <a:ext cx="2286000" cy="320040"/>
          </a:xfrm>
          <a:prstGeom prst="rect">
            <a:avLst/>
          </a:prstGeom>
          <a:noFill/>
        </p:spPr>
        <p:txBody>
          <a:bodyPr wrap="square">
            <a:spAutoFit/>
          </a:bodyPr>
          <a:lstStyle/>
          <a:p>
            <a:pPr algn="r"/>
            <a:r>
              <a:rPr sz="1400" b="1" i="0">
                <a:solidFill>
                  <a:srgbClr val="375623"/>
                </a:solidFill>
                <a:latin typeface="Calibri"/>
              </a:rPr>
              <a:t>-$53,000,000</a:t>
            </a:r>
          </a:p>
        </p:txBody>
      </p:sp>
      <p:sp>
        <p:nvSpPr>
          <p:cNvPr id="32" name="Rectangle 31"/>
          <p:cNvSpPr/>
          <p:nvPr/>
        </p:nvSpPr>
        <p:spPr>
          <a:xfrm>
            <a:off x="5989320" y="3264407"/>
            <a:ext cx="5806440" cy="621792"/>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80760" y="3337559"/>
            <a:ext cx="3200400" cy="320040"/>
          </a:xfrm>
          <a:prstGeom prst="rect">
            <a:avLst/>
          </a:prstGeom>
          <a:noFill/>
        </p:spPr>
        <p:txBody>
          <a:bodyPr wrap="square">
            <a:spAutoFit/>
          </a:bodyPr>
          <a:lstStyle/>
          <a:p>
            <a:pPr algn="l"/>
            <a:r>
              <a:rPr sz="1300" b="1" i="0">
                <a:solidFill>
                  <a:srgbClr val="FFFFFF"/>
                </a:solidFill>
                <a:latin typeface="Calibri"/>
              </a:rPr>
              <a:t>Beneficio neto 2026</a:t>
            </a:r>
          </a:p>
        </p:txBody>
      </p:sp>
      <p:sp>
        <p:nvSpPr>
          <p:cNvPr id="34" name="TextBox 33"/>
          <p:cNvSpPr txBox="1"/>
          <p:nvPr/>
        </p:nvSpPr>
        <p:spPr>
          <a:xfrm>
            <a:off x="9326880" y="3337559"/>
            <a:ext cx="2286000" cy="320040"/>
          </a:xfrm>
          <a:prstGeom prst="rect">
            <a:avLst/>
          </a:prstGeom>
          <a:noFill/>
        </p:spPr>
        <p:txBody>
          <a:bodyPr wrap="square">
            <a:spAutoFit/>
          </a:bodyPr>
          <a:lstStyle/>
          <a:p>
            <a:pPr algn="r"/>
            <a:r>
              <a:rPr sz="1400" b="1" i="0">
                <a:solidFill>
                  <a:srgbClr val="FFFFFF"/>
                </a:solidFill>
                <a:latin typeface="Calibri"/>
              </a:rPr>
              <a:t>$60,500,000</a:t>
            </a:r>
          </a:p>
        </p:txBody>
      </p:sp>
      <p:sp>
        <p:nvSpPr>
          <p:cNvPr id="35" name="Rectangle 34"/>
          <p:cNvSpPr/>
          <p:nvPr/>
        </p:nvSpPr>
        <p:spPr>
          <a:xfrm>
            <a:off x="5989320" y="3977639"/>
            <a:ext cx="5806440" cy="621792"/>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80760" y="4050791"/>
            <a:ext cx="3200400" cy="320040"/>
          </a:xfrm>
          <a:prstGeom prst="rect">
            <a:avLst/>
          </a:prstGeom>
          <a:noFill/>
        </p:spPr>
        <p:txBody>
          <a:bodyPr wrap="square">
            <a:spAutoFit/>
          </a:bodyPr>
          <a:lstStyle/>
          <a:p>
            <a:pPr algn="l"/>
            <a:r>
              <a:rPr sz="1300" b="1" i="0">
                <a:solidFill>
                  <a:srgbClr val="FFFFFF"/>
                </a:solidFill>
                <a:latin typeface="Calibri"/>
              </a:rPr>
              <a:t>ROI del plan (2026)</a:t>
            </a:r>
          </a:p>
        </p:txBody>
      </p:sp>
      <p:sp>
        <p:nvSpPr>
          <p:cNvPr id="37" name="TextBox 36"/>
          <p:cNvSpPr txBox="1"/>
          <p:nvPr/>
        </p:nvSpPr>
        <p:spPr>
          <a:xfrm>
            <a:off x="9326880" y="4050791"/>
            <a:ext cx="2286000" cy="320040"/>
          </a:xfrm>
          <a:prstGeom prst="rect">
            <a:avLst/>
          </a:prstGeom>
          <a:noFill/>
        </p:spPr>
        <p:txBody>
          <a:bodyPr wrap="square">
            <a:spAutoFit/>
          </a:bodyPr>
          <a:lstStyle/>
          <a:p>
            <a:pPr algn="r"/>
            <a:r>
              <a:rPr sz="1400" b="1" i="0">
                <a:solidFill>
                  <a:srgbClr val="FFFFFF"/>
                </a:solidFill>
                <a:latin typeface="Calibri"/>
              </a:rPr>
              <a:t>297%</a:t>
            </a:r>
          </a:p>
        </p:txBody>
      </p:sp>
      <p:sp>
        <p:nvSpPr>
          <p:cNvPr id="38" name="TextBox 37"/>
          <p:cNvSpPr txBox="1"/>
          <p:nvPr/>
        </p:nvSpPr>
        <p:spPr>
          <a:xfrm>
            <a:off x="6080760" y="4764023"/>
            <a:ext cx="3200400" cy="320040"/>
          </a:xfrm>
          <a:prstGeom prst="rect">
            <a:avLst/>
          </a:prstGeom>
          <a:noFill/>
        </p:spPr>
        <p:txBody>
          <a:bodyPr wrap="square">
            <a:spAutoFit/>
          </a:bodyPr>
          <a:lstStyle/>
          <a:p>
            <a:pPr algn="l"/>
            <a:r>
              <a:rPr sz="1300" b="0" i="0">
                <a:solidFill>
                  <a:srgbClr val="000000"/>
                </a:solidFill>
                <a:latin typeface="Calibri"/>
              </a:rPr>
              <a:t>Payback</a:t>
            </a:r>
          </a:p>
        </p:txBody>
      </p:sp>
      <p:sp>
        <p:nvSpPr>
          <p:cNvPr id="39" name="TextBox 38"/>
          <p:cNvSpPr txBox="1"/>
          <p:nvPr/>
        </p:nvSpPr>
        <p:spPr>
          <a:xfrm>
            <a:off x="9326880" y="4764023"/>
            <a:ext cx="2286000" cy="320040"/>
          </a:xfrm>
          <a:prstGeom prst="rect">
            <a:avLst/>
          </a:prstGeom>
          <a:noFill/>
        </p:spPr>
        <p:txBody>
          <a:bodyPr wrap="square">
            <a:spAutoFit/>
          </a:bodyPr>
          <a:lstStyle/>
          <a:p>
            <a:pPr algn="r"/>
            <a:r>
              <a:rPr sz="1400" b="1" i="0">
                <a:solidFill>
                  <a:srgbClr val="375623"/>
                </a:solidFill>
                <a:latin typeface="Calibri"/>
              </a:rPr>
              <a:t>Octubre 2026</a:t>
            </a:r>
          </a:p>
        </p:txBody>
      </p:sp>
      <p:sp>
        <p:nvSpPr>
          <p:cNvPr id="40" name="Rectangle 39"/>
          <p:cNvSpPr/>
          <p:nvPr/>
        </p:nvSpPr>
        <p:spPr>
          <a:xfrm>
            <a:off x="5989320" y="5404103"/>
            <a:ext cx="5806440" cy="621792"/>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80760" y="5477255"/>
            <a:ext cx="3200400" cy="320040"/>
          </a:xfrm>
          <a:prstGeom prst="rect">
            <a:avLst/>
          </a:prstGeom>
          <a:noFill/>
        </p:spPr>
        <p:txBody>
          <a:bodyPr wrap="square">
            <a:spAutoFit/>
          </a:bodyPr>
          <a:lstStyle/>
          <a:p>
            <a:pPr algn="l"/>
            <a:r>
              <a:rPr sz="1300" b="1" i="0">
                <a:solidFill>
                  <a:srgbClr val="FFFFFF"/>
                </a:solidFill>
                <a:latin typeface="Calibri"/>
              </a:rPr>
              <a:t>ROI acumulado 2026-2027</a:t>
            </a:r>
          </a:p>
        </p:txBody>
      </p:sp>
      <p:sp>
        <p:nvSpPr>
          <p:cNvPr id="42" name="TextBox 41"/>
          <p:cNvSpPr txBox="1"/>
          <p:nvPr/>
        </p:nvSpPr>
        <p:spPr>
          <a:xfrm>
            <a:off x="9326880" y="5477255"/>
            <a:ext cx="2286000" cy="320040"/>
          </a:xfrm>
          <a:prstGeom prst="rect">
            <a:avLst/>
          </a:prstGeom>
          <a:noFill/>
        </p:spPr>
        <p:txBody>
          <a:bodyPr wrap="square">
            <a:spAutoFit/>
          </a:bodyPr>
          <a:lstStyle/>
          <a:p>
            <a:pPr algn="r"/>
            <a:r>
              <a:rPr sz="1400" b="1" i="0">
                <a:solidFill>
                  <a:srgbClr val="FFFFFF"/>
                </a:solidFill>
                <a:latin typeface="Calibri"/>
              </a:rPr>
              <a:t>590-680%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Tablero de KPIs — Metas Mensuales</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Indicadores de seguimiento del plan  ·  Reporte en reunión mensual de resultados</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7 / 8</a:t>
            </a:r>
          </a:p>
        </p:txBody>
      </p:sp>
      <p:sp>
        <p:nvSpPr>
          <p:cNvPr id="10" name="Rectangle 9"/>
          <p:cNvSpPr/>
          <p:nvPr/>
        </p:nvSpPr>
        <p:spPr>
          <a:xfrm>
            <a:off x="320040" y="1298448"/>
            <a:ext cx="5577840" cy="118872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298448"/>
            <a:ext cx="164592" cy="11887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353312"/>
            <a:ext cx="2286000" cy="320040"/>
          </a:xfrm>
          <a:prstGeom prst="rect">
            <a:avLst/>
          </a:prstGeom>
          <a:noFill/>
        </p:spPr>
        <p:txBody>
          <a:bodyPr wrap="square">
            <a:spAutoFit/>
          </a:bodyPr>
          <a:lstStyle/>
          <a:p>
            <a:pPr algn="l"/>
            <a:r>
              <a:rPr sz="1200" b="1" i="0">
                <a:solidFill>
                  <a:srgbClr val="000000"/>
                </a:solidFill>
                <a:latin typeface="Calibri"/>
              </a:rPr>
              <a:t>KPI Costo / Ventas</a:t>
            </a:r>
          </a:p>
        </p:txBody>
      </p:sp>
      <p:sp>
        <p:nvSpPr>
          <p:cNvPr id="13" name="TextBox 12"/>
          <p:cNvSpPr txBox="1"/>
          <p:nvPr/>
        </p:nvSpPr>
        <p:spPr>
          <a:xfrm>
            <a:off x="576072" y="1682496"/>
            <a:ext cx="640080" cy="274320"/>
          </a:xfrm>
          <a:prstGeom prst="rect">
            <a:avLst/>
          </a:prstGeom>
          <a:noFill/>
        </p:spPr>
        <p:txBody>
          <a:bodyPr wrap="square">
            <a:spAutoFit/>
          </a:bodyPr>
          <a:lstStyle/>
          <a:p>
            <a:pPr algn="l"/>
            <a:r>
              <a:rPr sz="1000" b="0" i="0">
                <a:solidFill>
                  <a:srgbClr val="595959"/>
                </a:solidFill>
                <a:latin typeface="Calibri"/>
              </a:rPr>
              <a:t>Actual:</a:t>
            </a:r>
          </a:p>
        </p:txBody>
      </p:sp>
      <p:sp>
        <p:nvSpPr>
          <p:cNvPr id="14" name="TextBox 13"/>
          <p:cNvSpPr txBox="1"/>
          <p:nvPr/>
        </p:nvSpPr>
        <p:spPr>
          <a:xfrm>
            <a:off x="1188720" y="1645920"/>
            <a:ext cx="914400" cy="347472"/>
          </a:xfrm>
          <a:prstGeom prst="rect">
            <a:avLst/>
          </a:prstGeom>
          <a:noFill/>
        </p:spPr>
        <p:txBody>
          <a:bodyPr wrap="square">
            <a:spAutoFit/>
          </a:bodyPr>
          <a:lstStyle/>
          <a:p>
            <a:pPr algn="l"/>
            <a:r>
              <a:rPr sz="1400" b="1" i="0">
                <a:solidFill>
                  <a:srgbClr val="C00000"/>
                </a:solidFill>
                <a:latin typeface="Calibri"/>
              </a:rPr>
              <a:t>3.89%</a:t>
            </a:r>
          </a:p>
        </p:txBody>
      </p:sp>
      <p:sp>
        <p:nvSpPr>
          <p:cNvPr id="15" name="TextBox 14"/>
          <p:cNvSpPr txBox="1"/>
          <p:nvPr/>
        </p:nvSpPr>
        <p:spPr>
          <a:xfrm>
            <a:off x="2103120" y="1645920"/>
            <a:ext cx="320040" cy="347472"/>
          </a:xfrm>
          <a:prstGeom prst="rect">
            <a:avLst/>
          </a:prstGeom>
          <a:noFill/>
        </p:spPr>
        <p:txBody>
          <a:bodyPr wrap="square">
            <a:spAutoFit/>
          </a:bodyPr>
          <a:lstStyle/>
          <a:p>
            <a:pPr algn="ctr"/>
            <a:r>
              <a:rPr sz="1400" b="0" i="0">
                <a:solidFill>
                  <a:srgbClr val="595959"/>
                </a:solidFill>
                <a:latin typeface="Calibri"/>
              </a:rPr>
              <a:t>→</a:t>
            </a:r>
          </a:p>
        </p:txBody>
      </p:sp>
      <p:sp>
        <p:nvSpPr>
          <p:cNvPr id="16" name="TextBox 15"/>
          <p:cNvSpPr txBox="1"/>
          <p:nvPr/>
        </p:nvSpPr>
        <p:spPr>
          <a:xfrm>
            <a:off x="2468880" y="1682496"/>
            <a:ext cx="640080" cy="274320"/>
          </a:xfrm>
          <a:prstGeom prst="rect">
            <a:avLst/>
          </a:prstGeom>
          <a:noFill/>
        </p:spPr>
        <p:txBody>
          <a:bodyPr wrap="square">
            <a:spAutoFit/>
          </a:bodyPr>
          <a:lstStyle/>
          <a:p>
            <a:pPr algn="l"/>
            <a:r>
              <a:rPr sz="1000" b="0" i="0">
                <a:solidFill>
                  <a:srgbClr val="595959"/>
                </a:solidFill>
                <a:latin typeface="Calibri"/>
              </a:rPr>
              <a:t>Meta:</a:t>
            </a:r>
          </a:p>
        </p:txBody>
      </p:sp>
      <p:sp>
        <p:nvSpPr>
          <p:cNvPr id="17" name="TextBox 16"/>
          <p:cNvSpPr txBox="1"/>
          <p:nvPr/>
        </p:nvSpPr>
        <p:spPr>
          <a:xfrm>
            <a:off x="3063240" y="1645920"/>
            <a:ext cx="914400" cy="347472"/>
          </a:xfrm>
          <a:prstGeom prst="rect">
            <a:avLst/>
          </a:prstGeom>
          <a:noFill/>
        </p:spPr>
        <p:txBody>
          <a:bodyPr wrap="square">
            <a:spAutoFit/>
          </a:bodyPr>
          <a:lstStyle/>
          <a:p>
            <a:pPr algn="l"/>
            <a:r>
              <a:rPr sz="1400" b="1" i="0">
                <a:solidFill>
                  <a:srgbClr val="375623"/>
                </a:solidFill>
                <a:latin typeface="Calibri"/>
              </a:rPr>
              <a:t>≤ 2.5%</a:t>
            </a:r>
          </a:p>
        </p:txBody>
      </p:sp>
      <p:sp>
        <p:nvSpPr>
          <p:cNvPr id="18" name="TextBox 17"/>
          <p:cNvSpPr txBox="1"/>
          <p:nvPr/>
        </p:nvSpPr>
        <p:spPr>
          <a:xfrm>
            <a:off x="576072" y="2048256"/>
            <a:ext cx="5120640" cy="274320"/>
          </a:xfrm>
          <a:prstGeom prst="rect">
            <a:avLst/>
          </a:prstGeom>
          <a:noFill/>
        </p:spPr>
        <p:txBody>
          <a:bodyPr wrap="square">
            <a:spAutoFit/>
          </a:bodyPr>
          <a:lstStyle/>
          <a:p>
            <a:pPr algn="l"/>
            <a:r>
              <a:rPr sz="1000" b="0" i="1">
                <a:solidFill>
                  <a:srgbClr val="595959"/>
                </a:solidFill>
                <a:latin typeface="Calibri"/>
              </a:rPr>
              <a:t>Reducción gradual cada mes</a:t>
            </a:r>
          </a:p>
        </p:txBody>
      </p:sp>
      <p:sp>
        <p:nvSpPr>
          <p:cNvPr id="19" name="Rectangle 18"/>
          <p:cNvSpPr/>
          <p:nvPr/>
        </p:nvSpPr>
        <p:spPr>
          <a:xfrm>
            <a:off x="6281928" y="1298448"/>
            <a:ext cx="5577840" cy="118872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81928" y="1298448"/>
            <a:ext cx="164592" cy="11887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1353312"/>
            <a:ext cx="2286000" cy="320040"/>
          </a:xfrm>
          <a:prstGeom prst="rect">
            <a:avLst/>
          </a:prstGeom>
          <a:noFill/>
        </p:spPr>
        <p:txBody>
          <a:bodyPr wrap="square">
            <a:spAutoFit/>
          </a:bodyPr>
          <a:lstStyle/>
          <a:p>
            <a:pPr algn="l"/>
            <a:r>
              <a:rPr sz="1200" b="1" i="0">
                <a:solidFill>
                  <a:srgbClr val="000000"/>
                </a:solidFill>
                <a:latin typeface="Calibri"/>
              </a:rPr>
              <a:t>% Mant. Preventivo</a:t>
            </a:r>
          </a:p>
        </p:txBody>
      </p:sp>
      <p:sp>
        <p:nvSpPr>
          <p:cNvPr id="22" name="TextBox 21"/>
          <p:cNvSpPr txBox="1"/>
          <p:nvPr/>
        </p:nvSpPr>
        <p:spPr>
          <a:xfrm>
            <a:off x="6537960" y="1682496"/>
            <a:ext cx="640080" cy="274320"/>
          </a:xfrm>
          <a:prstGeom prst="rect">
            <a:avLst/>
          </a:prstGeom>
          <a:noFill/>
        </p:spPr>
        <p:txBody>
          <a:bodyPr wrap="square">
            <a:spAutoFit/>
          </a:bodyPr>
          <a:lstStyle/>
          <a:p>
            <a:pPr algn="l"/>
            <a:r>
              <a:rPr sz="1000" b="0" i="0">
                <a:solidFill>
                  <a:srgbClr val="595959"/>
                </a:solidFill>
                <a:latin typeface="Calibri"/>
              </a:rPr>
              <a:t>Actual:</a:t>
            </a:r>
          </a:p>
        </p:txBody>
      </p:sp>
      <p:sp>
        <p:nvSpPr>
          <p:cNvPr id="23" name="TextBox 22"/>
          <p:cNvSpPr txBox="1"/>
          <p:nvPr/>
        </p:nvSpPr>
        <p:spPr>
          <a:xfrm>
            <a:off x="7150608" y="1645920"/>
            <a:ext cx="914400" cy="347472"/>
          </a:xfrm>
          <a:prstGeom prst="rect">
            <a:avLst/>
          </a:prstGeom>
          <a:noFill/>
        </p:spPr>
        <p:txBody>
          <a:bodyPr wrap="square">
            <a:spAutoFit/>
          </a:bodyPr>
          <a:lstStyle/>
          <a:p>
            <a:pPr algn="l"/>
            <a:r>
              <a:rPr sz="1400" b="1" i="0">
                <a:solidFill>
                  <a:srgbClr val="C00000"/>
                </a:solidFill>
                <a:latin typeface="Calibri"/>
              </a:rPr>
              <a:t>~30%</a:t>
            </a:r>
          </a:p>
        </p:txBody>
      </p:sp>
      <p:sp>
        <p:nvSpPr>
          <p:cNvPr id="24" name="TextBox 23"/>
          <p:cNvSpPr txBox="1"/>
          <p:nvPr/>
        </p:nvSpPr>
        <p:spPr>
          <a:xfrm>
            <a:off x="8065008" y="1645920"/>
            <a:ext cx="320040" cy="347472"/>
          </a:xfrm>
          <a:prstGeom prst="rect">
            <a:avLst/>
          </a:prstGeom>
          <a:noFill/>
        </p:spPr>
        <p:txBody>
          <a:bodyPr wrap="square">
            <a:spAutoFit/>
          </a:bodyPr>
          <a:lstStyle/>
          <a:p>
            <a:pPr algn="ctr"/>
            <a:r>
              <a:rPr sz="1400" b="0" i="0">
                <a:solidFill>
                  <a:srgbClr val="595959"/>
                </a:solidFill>
                <a:latin typeface="Calibri"/>
              </a:rPr>
              <a:t>→</a:t>
            </a:r>
          </a:p>
        </p:txBody>
      </p:sp>
      <p:sp>
        <p:nvSpPr>
          <p:cNvPr id="25" name="TextBox 24"/>
          <p:cNvSpPr txBox="1"/>
          <p:nvPr/>
        </p:nvSpPr>
        <p:spPr>
          <a:xfrm>
            <a:off x="8430768" y="1682496"/>
            <a:ext cx="640080" cy="274320"/>
          </a:xfrm>
          <a:prstGeom prst="rect">
            <a:avLst/>
          </a:prstGeom>
          <a:noFill/>
        </p:spPr>
        <p:txBody>
          <a:bodyPr wrap="square">
            <a:spAutoFit/>
          </a:bodyPr>
          <a:lstStyle/>
          <a:p>
            <a:pPr algn="l"/>
            <a:r>
              <a:rPr sz="1000" b="0" i="0">
                <a:solidFill>
                  <a:srgbClr val="595959"/>
                </a:solidFill>
                <a:latin typeface="Calibri"/>
              </a:rPr>
              <a:t>Meta:</a:t>
            </a:r>
          </a:p>
        </p:txBody>
      </p:sp>
      <p:sp>
        <p:nvSpPr>
          <p:cNvPr id="26" name="TextBox 25"/>
          <p:cNvSpPr txBox="1"/>
          <p:nvPr/>
        </p:nvSpPr>
        <p:spPr>
          <a:xfrm>
            <a:off x="9025128" y="1645920"/>
            <a:ext cx="914400" cy="347472"/>
          </a:xfrm>
          <a:prstGeom prst="rect">
            <a:avLst/>
          </a:prstGeom>
          <a:noFill/>
        </p:spPr>
        <p:txBody>
          <a:bodyPr wrap="square">
            <a:spAutoFit/>
          </a:bodyPr>
          <a:lstStyle/>
          <a:p>
            <a:pPr algn="l"/>
            <a:r>
              <a:rPr sz="1400" b="1" i="0">
                <a:solidFill>
                  <a:srgbClr val="375623"/>
                </a:solidFill>
                <a:latin typeface="Calibri"/>
              </a:rPr>
              <a:t>≥ 60%</a:t>
            </a:r>
          </a:p>
        </p:txBody>
      </p:sp>
      <p:sp>
        <p:nvSpPr>
          <p:cNvPr id="27" name="TextBox 26"/>
          <p:cNvSpPr txBox="1"/>
          <p:nvPr/>
        </p:nvSpPr>
        <p:spPr>
          <a:xfrm>
            <a:off x="6537960" y="2048256"/>
            <a:ext cx="5120640" cy="274320"/>
          </a:xfrm>
          <a:prstGeom prst="rect">
            <a:avLst/>
          </a:prstGeom>
          <a:noFill/>
        </p:spPr>
        <p:txBody>
          <a:bodyPr wrap="square">
            <a:spAutoFit/>
          </a:bodyPr>
          <a:lstStyle/>
          <a:p>
            <a:pPr algn="l"/>
            <a:r>
              <a:rPr sz="1000" b="0" i="1">
                <a:solidFill>
                  <a:srgbClr val="595959"/>
                </a:solidFill>
                <a:latin typeface="Calibri"/>
              </a:rPr>
              <a:t>Meta de 60% en Diciembre</a:t>
            </a:r>
          </a:p>
        </p:txBody>
      </p:sp>
      <p:sp>
        <p:nvSpPr>
          <p:cNvPr id="28" name="Rectangle 27"/>
          <p:cNvSpPr/>
          <p:nvPr/>
        </p:nvSpPr>
        <p:spPr>
          <a:xfrm>
            <a:off x="320040" y="2688336"/>
            <a:ext cx="5577840" cy="118872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2688336"/>
            <a:ext cx="164592" cy="11887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6072" y="2743200"/>
            <a:ext cx="2286000" cy="320040"/>
          </a:xfrm>
          <a:prstGeom prst="rect">
            <a:avLst/>
          </a:prstGeom>
          <a:noFill/>
        </p:spPr>
        <p:txBody>
          <a:bodyPr wrap="square">
            <a:spAutoFit/>
          </a:bodyPr>
          <a:lstStyle/>
          <a:p>
            <a:pPr algn="l"/>
            <a:r>
              <a:rPr sz="1200" b="1" i="0">
                <a:solidFill>
                  <a:srgbClr val="000000"/>
                </a:solidFill>
                <a:latin typeface="Calibri"/>
              </a:rPr>
              <a:t>Personal Temporal/mes</a:t>
            </a:r>
          </a:p>
        </p:txBody>
      </p:sp>
      <p:sp>
        <p:nvSpPr>
          <p:cNvPr id="31" name="TextBox 30"/>
          <p:cNvSpPr txBox="1"/>
          <p:nvPr/>
        </p:nvSpPr>
        <p:spPr>
          <a:xfrm>
            <a:off x="576072" y="3072384"/>
            <a:ext cx="640080" cy="274320"/>
          </a:xfrm>
          <a:prstGeom prst="rect">
            <a:avLst/>
          </a:prstGeom>
          <a:noFill/>
        </p:spPr>
        <p:txBody>
          <a:bodyPr wrap="square">
            <a:spAutoFit/>
          </a:bodyPr>
          <a:lstStyle/>
          <a:p>
            <a:pPr algn="l"/>
            <a:r>
              <a:rPr sz="1000" b="0" i="0">
                <a:solidFill>
                  <a:srgbClr val="595959"/>
                </a:solidFill>
                <a:latin typeface="Calibri"/>
              </a:rPr>
              <a:t>Actual:</a:t>
            </a:r>
          </a:p>
        </p:txBody>
      </p:sp>
      <p:sp>
        <p:nvSpPr>
          <p:cNvPr id="32" name="TextBox 31"/>
          <p:cNvSpPr txBox="1"/>
          <p:nvPr/>
        </p:nvSpPr>
        <p:spPr>
          <a:xfrm>
            <a:off x="1188720" y="3035808"/>
            <a:ext cx="914400" cy="347472"/>
          </a:xfrm>
          <a:prstGeom prst="rect">
            <a:avLst/>
          </a:prstGeom>
          <a:noFill/>
        </p:spPr>
        <p:txBody>
          <a:bodyPr wrap="square">
            <a:spAutoFit/>
          </a:bodyPr>
          <a:lstStyle/>
          <a:p>
            <a:pPr algn="l"/>
            <a:r>
              <a:rPr sz="1400" b="1" i="0">
                <a:solidFill>
                  <a:srgbClr val="C00000"/>
                </a:solidFill>
                <a:latin typeface="Calibri"/>
              </a:rPr>
              <a:t>$15.2M</a:t>
            </a:r>
          </a:p>
        </p:txBody>
      </p:sp>
      <p:sp>
        <p:nvSpPr>
          <p:cNvPr id="33" name="TextBox 32"/>
          <p:cNvSpPr txBox="1"/>
          <p:nvPr/>
        </p:nvSpPr>
        <p:spPr>
          <a:xfrm>
            <a:off x="2103120" y="3035808"/>
            <a:ext cx="320040" cy="347472"/>
          </a:xfrm>
          <a:prstGeom prst="rect">
            <a:avLst/>
          </a:prstGeom>
          <a:noFill/>
        </p:spPr>
        <p:txBody>
          <a:bodyPr wrap="square">
            <a:spAutoFit/>
          </a:bodyPr>
          <a:lstStyle/>
          <a:p>
            <a:pPr algn="ctr"/>
            <a:r>
              <a:rPr sz="1400" b="0" i="0">
                <a:solidFill>
                  <a:srgbClr val="595959"/>
                </a:solidFill>
                <a:latin typeface="Calibri"/>
              </a:rPr>
              <a:t>→</a:t>
            </a:r>
          </a:p>
        </p:txBody>
      </p:sp>
      <p:sp>
        <p:nvSpPr>
          <p:cNvPr id="34" name="TextBox 33"/>
          <p:cNvSpPr txBox="1"/>
          <p:nvPr/>
        </p:nvSpPr>
        <p:spPr>
          <a:xfrm>
            <a:off x="2468880" y="3072384"/>
            <a:ext cx="640080" cy="274320"/>
          </a:xfrm>
          <a:prstGeom prst="rect">
            <a:avLst/>
          </a:prstGeom>
          <a:noFill/>
        </p:spPr>
        <p:txBody>
          <a:bodyPr wrap="square">
            <a:spAutoFit/>
          </a:bodyPr>
          <a:lstStyle/>
          <a:p>
            <a:pPr algn="l"/>
            <a:r>
              <a:rPr sz="1000" b="0" i="0">
                <a:solidFill>
                  <a:srgbClr val="595959"/>
                </a:solidFill>
                <a:latin typeface="Calibri"/>
              </a:rPr>
              <a:t>Meta:</a:t>
            </a:r>
          </a:p>
        </p:txBody>
      </p:sp>
      <p:sp>
        <p:nvSpPr>
          <p:cNvPr id="35" name="TextBox 34"/>
          <p:cNvSpPr txBox="1"/>
          <p:nvPr/>
        </p:nvSpPr>
        <p:spPr>
          <a:xfrm>
            <a:off x="3063240" y="3035808"/>
            <a:ext cx="914400" cy="347472"/>
          </a:xfrm>
          <a:prstGeom prst="rect">
            <a:avLst/>
          </a:prstGeom>
          <a:noFill/>
        </p:spPr>
        <p:txBody>
          <a:bodyPr wrap="square">
            <a:spAutoFit/>
          </a:bodyPr>
          <a:lstStyle/>
          <a:p>
            <a:pPr algn="l"/>
            <a:r>
              <a:rPr sz="1400" b="1" i="0">
                <a:solidFill>
                  <a:srgbClr val="375623"/>
                </a:solidFill>
                <a:latin typeface="Calibri"/>
              </a:rPr>
              <a:t>≤ $7.5M</a:t>
            </a:r>
          </a:p>
        </p:txBody>
      </p:sp>
      <p:sp>
        <p:nvSpPr>
          <p:cNvPr id="36" name="TextBox 35"/>
          <p:cNvSpPr txBox="1"/>
          <p:nvPr/>
        </p:nvSpPr>
        <p:spPr>
          <a:xfrm>
            <a:off x="576072" y="3438144"/>
            <a:ext cx="5120640" cy="274320"/>
          </a:xfrm>
          <a:prstGeom prst="rect">
            <a:avLst/>
          </a:prstGeom>
          <a:noFill/>
        </p:spPr>
        <p:txBody>
          <a:bodyPr wrap="square">
            <a:spAutoFit/>
          </a:bodyPr>
          <a:lstStyle/>
          <a:p>
            <a:pPr algn="l"/>
            <a:r>
              <a:rPr sz="1000" b="0" i="1">
                <a:solidFill>
                  <a:srgbClr val="595959"/>
                </a:solidFill>
                <a:latin typeface="Calibri"/>
              </a:rPr>
              <a:t>Reducción -50% en 8 meses</a:t>
            </a:r>
          </a:p>
        </p:txBody>
      </p:sp>
      <p:sp>
        <p:nvSpPr>
          <p:cNvPr id="37" name="Rectangle 36"/>
          <p:cNvSpPr/>
          <p:nvPr/>
        </p:nvSpPr>
        <p:spPr>
          <a:xfrm>
            <a:off x="6281928" y="2688336"/>
            <a:ext cx="5577840" cy="118872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81928" y="2688336"/>
            <a:ext cx="164592" cy="11887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60" y="2743200"/>
            <a:ext cx="2286000" cy="320040"/>
          </a:xfrm>
          <a:prstGeom prst="rect">
            <a:avLst/>
          </a:prstGeom>
          <a:noFill/>
        </p:spPr>
        <p:txBody>
          <a:bodyPr wrap="square">
            <a:spAutoFit/>
          </a:bodyPr>
          <a:lstStyle/>
          <a:p>
            <a:pPr algn="l"/>
            <a:r>
              <a:rPr sz="1200" b="1" i="0">
                <a:solidFill>
                  <a:srgbClr val="000000"/>
                </a:solidFill>
                <a:latin typeface="Calibri"/>
              </a:rPr>
              <a:t>Proveedores contrato</a:t>
            </a:r>
          </a:p>
        </p:txBody>
      </p:sp>
      <p:sp>
        <p:nvSpPr>
          <p:cNvPr id="40" name="TextBox 39"/>
          <p:cNvSpPr txBox="1"/>
          <p:nvPr/>
        </p:nvSpPr>
        <p:spPr>
          <a:xfrm>
            <a:off x="6537960" y="3072384"/>
            <a:ext cx="640080" cy="274320"/>
          </a:xfrm>
          <a:prstGeom prst="rect">
            <a:avLst/>
          </a:prstGeom>
          <a:noFill/>
        </p:spPr>
        <p:txBody>
          <a:bodyPr wrap="square">
            <a:spAutoFit/>
          </a:bodyPr>
          <a:lstStyle/>
          <a:p>
            <a:pPr algn="l"/>
            <a:r>
              <a:rPr sz="1000" b="0" i="0">
                <a:solidFill>
                  <a:srgbClr val="595959"/>
                </a:solidFill>
                <a:latin typeface="Calibri"/>
              </a:rPr>
              <a:t>Actual:</a:t>
            </a:r>
          </a:p>
        </p:txBody>
      </p:sp>
      <p:sp>
        <p:nvSpPr>
          <p:cNvPr id="41" name="TextBox 40"/>
          <p:cNvSpPr txBox="1"/>
          <p:nvPr/>
        </p:nvSpPr>
        <p:spPr>
          <a:xfrm>
            <a:off x="7150608" y="3035808"/>
            <a:ext cx="914400" cy="347472"/>
          </a:xfrm>
          <a:prstGeom prst="rect">
            <a:avLst/>
          </a:prstGeom>
          <a:noFill/>
        </p:spPr>
        <p:txBody>
          <a:bodyPr wrap="square">
            <a:spAutoFit/>
          </a:bodyPr>
          <a:lstStyle/>
          <a:p>
            <a:pPr algn="l"/>
            <a:r>
              <a:rPr sz="1400" b="1" i="0">
                <a:solidFill>
                  <a:srgbClr val="C00000"/>
                </a:solidFill>
                <a:latin typeface="Calibri"/>
              </a:rPr>
              <a:t>0</a:t>
            </a:r>
          </a:p>
        </p:txBody>
      </p:sp>
      <p:sp>
        <p:nvSpPr>
          <p:cNvPr id="42" name="TextBox 41"/>
          <p:cNvSpPr txBox="1"/>
          <p:nvPr/>
        </p:nvSpPr>
        <p:spPr>
          <a:xfrm>
            <a:off x="8065008" y="3035808"/>
            <a:ext cx="320040" cy="347472"/>
          </a:xfrm>
          <a:prstGeom prst="rect">
            <a:avLst/>
          </a:prstGeom>
          <a:noFill/>
        </p:spPr>
        <p:txBody>
          <a:bodyPr wrap="square">
            <a:spAutoFit/>
          </a:bodyPr>
          <a:lstStyle/>
          <a:p>
            <a:pPr algn="ctr"/>
            <a:r>
              <a:rPr sz="1400" b="0" i="0">
                <a:solidFill>
                  <a:srgbClr val="595959"/>
                </a:solidFill>
                <a:latin typeface="Calibri"/>
              </a:rPr>
              <a:t>→</a:t>
            </a:r>
          </a:p>
        </p:txBody>
      </p:sp>
      <p:sp>
        <p:nvSpPr>
          <p:cNvPr id="43" name="TextBox 42"/>
          <p:cNvSpPr txBox="1"/>
          <p:nvPr/>
        </p:nvSpPr>
        <p:spPr>
          <a:xfrm>
            <a:off x="8430768" y="3072384"/>
            <a:ext cx="640080" cy="274320"/>
          </a:xfrm>
          <a:prstGeom prst="rect">
            <a:avLst/>
          </a:prstGeom>
          <a:noFill/>
        </p:spPr>
        <p:txBody>
          <a:bodyPr wrap="square">
            <a:spAutoFit/>
          </a:bodyPr>
          <a:lstStyle/>
          <a:p>
            <a:pPr algn="l"/>
            <a:r>
              <a:rPr sz="1000" b="0" i="0">
                <a:solidFill>
                  <a:srgbClr val="595959"/>
                </a:solidFill>
                <a:latin typeface="Calibri"/>
              </a:rPr>
              <a:t>Meta:</a:t>
            </a:r>
          </a:p>
        </p:txBody>
      </p:sp>
      <p:sp>
        <p:nvSpPr>
          <p:cNvPr id="44" name="TextBox 43"/>
          <p:cNvSpPr txBox="1"/>
          <p:nvPr/>
        </p:nvSpPr>
        <p:spPr>
          <a:xfrm>
            <a:off x="9025128" y="3035808"/>
            <a:ext cx="914400" cy="347472"/>
          </a:xfrm>
          <a:prstGeom prst="rect">
            <a:avLst/>
          </a:prstGeom>
          <a:noFill/>
        </p:spPr>
        <p:txBody>
          <a:bodyPr wrap="square">
            <a:spAutoFit/>
          </a:bodyPr>
          <a:lstStyle/>
          <a:p>
            <a:pPr algn="l"/>
            <a:r>
              <a:rPr sz="1400" b="1" i="0">
                <a:solidFill>
                  <a:srgbClr val="375623"/>
                </a:solidFill>
                <a:latin typeface="Calibri"/>
              </a:rPr>
              <a:t>5</a:t>
            </a:r>
          </a:p>
        </p:txBody>
      </p:sp>
      <p:sp>
        <p:nvSpPr>
          <p:cNvPr id="45" name="TextBox 44"/>
          <p:cNvSpPr txBox="1"/>
          <p:nvPr/>
        </p:nvSpPr>
        <p:spPr>
          <a:xfrm>
            <a:off x="6537960" y="3438144"/>
            <a:ext cx="5120640" cy="274320"/>
          </a:xfrm>
          <a:prstGeom prst="rect">
            <a:avLst/>
          </a:prstGeom>
          <a:noFill/>
        </p:spPr>
        <p:txBody>
          <a:bodyPr wrap="square">
            <a:spAutoFit/>
          </a:bodyPr>
          <a:lstStyle/>
          <a:p>
            <a:pPr algn="l"/>
            <a:r>
              <a:rPr sz="1000" b="0" i="1">
                <a:solidFill>
                  <a:srgbClr val="595959"/>
                </a:solidFill>
                <a:latin typeface="Calibri"/>
              </a:rPr>
              <a:t>5 contratos firmados en Sept.</a:t>
            </a:r>
          </a:p>
        </p:txBody>
      </p:sp>
      <p:sp>
        <p:nvSpPr>
          <p:cNvPr id="46" name="Rectangle 45"/>
          <p:cNvSpPr/>
          <p:nvPr/>
        </p:nvSpPr>
        <p:spPr>
          <a:xfrm>
            <a:off x="320040" y="4078224"/>
            <a:ext cx="5577840" cy="118872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0040" y="4078224"/>
            <a:ext cx="164592" cy="11887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6072" y="4133088"/>
            <a:ext cx="2286000" cy="320040"/>
          </a:xfrm>
          <a:prstGeom prst="rect">
            <a:avLst/>
          </a:prstGeom>
          <a:noFill/>
        </p:spPr>
        <p:txBody>
          <a:bodyPr wrap="square">
            <a:spAutoFit/>
          </a:bodyPr>
          <a:lstStyle/>
          <a:p>
            <a:pPr algn="l"/>
            <a:r>
              <a:rPr sz="1200" b="1" i="0">
                <a:solidFill>
                  <a:srgbClr val="000000"/>
                </a:solidFill>
                <a:latin typeface="Calibri"/>
              </a:rPr>
              <a:t>OT con aprobación</a:t>
            </a:r>
          </a:p>
        </p:txBody>
      </p:sp>
      <p:sp>
        <p:nvSpPr>
          <p:cNvPr id="49" name="TextBox 48"/>
          <p:cNvSpPr txBox="1"/>
          <p:nvPr/>
        </p:nvSpPr>
        <p:spPr>
          <a:xfrm>
            <a:off x="576072" y="4462272"/>
            <a:ext cx="640080" cy="274320"/>
          </a:xfrm>
          <a:prstGeom prst="rect">
            <a:avLst/>
          </a:prstGeom>
          <a:noFill/>
        </p:spPr>
        <p:txBody>
          <a:bodyPr wrap="square">
            <a:spAutoFit/>
          </a:bodyPr>
          <a:lstStyle/>
          <a:p>
            <a:pPr algn="l"/>
            <a:r>
              <a:rPr sz="1000" b="0" i="0">
                <a:solidFill>
                  <a:srgbClr val="595959"/>
                </a:solidFill>
                <a:latin typeface="Calibri"/>
              </a:rPr>
              <a:t>Actual:</a:t>
            </a:r>
          </a:p>
        </p:txBody>
      </p:sp>
      <p:sp>
        <p:nvSpPr>
          <p:cNvPr id="50" name="TextBox 49"/>
          <p:cNvSpPr txBox="1"/>
          <p:nvPr/>
        </p:nvSpPr>
        <p:spPr>
          <a:xfrm>
            <a:off x="1188720" y="4425696"/>
            <a:ext cx="914400" cy="347472"/>
          </a:xfrm>
          <a:prstGeom prst="rect">
            <a:avLst/>
          </a:prstGeom>
          <a:noFill/>
        </p:spPr>
        <p:txBody>
          <a:bodyPr wrap="square">
            <a:spAutoFit/>
          </a:bodyPr>
          <a:lstStyle/>
          <a:p>
            <a:pPr algn="l"/>
            <a:r>
              <a:rPr sz="1400" b="1" i="0">
                <a:solidFill>
                  <a:srgbClr val="C00000"/>
                </a:solidFill>
                <a:latin typeface="Calibri"/>
              </a:rPr>
              <a:t>~30%</a:t>
            </a:r>
          </a:p>
        </p:txBody>
      </p:sp>
      <p:sp>
        <p:nvSpPr>
          <p:cNvPr id="51" name="TextBox 50"/>
          <p:cNvSpPr txBox="1"/>
          <p:nvPr/>
        </p:nvSpPr>
        <p:spPr>
          <a:xfrm>
            <a:off x="2103120" y="4425696"/>
            <a:ext cx="320040" cy="347472"/>
          </a:xfrm>
          <a:prstGeom prst="rect">
            <a:avLst/>
          </a:prstGeom>
          <a:noFill/>
        </p:spPr>
        <p:txBody>
          <a:bodyPr wrap="square">
            <a:spAutoFit/>
          </a:bodyPr>
          <a:lstStyle/>
          <a:p>
            <a:pPr algn="ctr"/>
            <a:r>
              <a:rPr sz="1400" b="0" i="0">
                <a:solidFill>
                  <a:srgbClr val="595959"/>
                </a:solidFill>
                <a:latin typeface="Calibri"/>
              </a:rPr>
              <a:t>→</a:t>
            </a:r>
          </a:p>
        </p:txBody>
      </p:sp>
      <p:sp>
        <p:nvSpPr>
          <p:cNvPr id="52" name="TextBox 51"/>
          <p:cNvSpPr txBox="1"/>
          <p:nvPr/>
        </p:nvSpPr>
        <p:spPr>
          <a:xfrm>
            <a:off x="2468880" y="4462272"/>
            <a:ext cx="640080" cy="274320"/>
          </a:xfrm>
          <a:prstGeom prst="rect">
            <a:avLst/>
          </a:prstGeom>
          <a:noFill/>
        </p:spPr>
        <p:txBody>
          <a:bodyPr wrap="square">
            <a:spAutoFit/>
          </a:bodyPr>
          <a:lstStyle/>
          <a:p>
            <a:pPr algn="l"/>
            <a:r>
              <a:rPr sz="1000" b="0" i="0">
                <a:solidFill>
                  <a:srgbClr val="595959"/>
                </a:solidFill>
                <a:latin typeface="Calibri"/>
              </a:rPr>
              <a:t>Meta:</a:t>
            </a:r>
          </a:p>
        </p:txBody>
      </p:sp>
      <p:sp>
        <p:nvSpPr>
          <p:cNvPr id="53" name="TextBox 52"/>
          <p:cNvSpPr txBox="1"/>
          <p:nvPr/>
        </p:nvSpPr>
        <p:spPr>
          <a:xfrm>
            <a:off x="3063240" y="4425696"/>
            <a:ext cx="914400" cy="347472"/>
          </a:xfrm>
          <a:prstGeom prst="rect">
            <a:avLst/>
          </a:prstGeom>
          <a:noFill/>
        </p:spPr>
        <p:txBody>
          <a:bodyPr wrap="square">
            <a:spAutoFit/>
          </a:bodyPr>
          <a:lstStyle/>
          <a:p>
            <a:pPr algn="l"/>
            <a:r>
              <a:rPr sz="1400" b="1" i="0">
                <a:solidFill>
                  <a:srgbClr val="375623"/>
                </a:solidFill>
                <a:latin typeface="Calibri"/>
              </a:rPr>
              <a:t>100%</a:t>
            </a:r>
          </a:p>
        </p:txBody>
      </p:sp>
      <p:sp>
        <p:nvSpPr>
          <p:cNvPr id="54" name="TextBox 53"/>
          <p:cNvSpPr txBox="1"/>
          <p:nvPr/>
        </p:nvSpPr>
        <p:spPr>
          <a:xfrm>
            <a:off x="576072" y="4828032"/>
            <a:ext cx="5120640" cy="274320"/>
          </a:xfrm>
          <a:prstGeom prst="rect">
            <a:avLst/>
          </a:prstGeom>
          <a:noFill/>
        </p:spPr>
        <p:txBody>
          <a:bodyPr wrap="square">
            <a:spAutoFit/>
          </a:bodyPr>
          <a:lstStyle/>
          <a:p>
            <a:pPr algn="l"/>
            <a:r>
              <a:rPr sz="1000" b="0" i="1">
                <a:solidFill>
                  <a:srgbClr val="595959"/>
                </a:solidFill>
                <a:latin typeface="Calibri"/>
              </a:rPr>
              <a:t>100% desde Junio 2026</a:t>
            </a:r>
          </a:p>
        </p:txBody>
      </p:sp>
      <p:sp>
        <p:nvSpPr>
          <p:cNvPr id="55" name="Rectangle 54"/>
          <p:cNvSpPr/>
          <p:nvPr/>
        </p:nvSpPr>
        <p:spPr>
          <a:xfrm>
            <a:off x="6281928" y="4078224"/>
            <a:ext cx="5577840" cy="118872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281928" y="4078224"/>
            <a:ext cx="164592" cy="11887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37960" y="4133088"/>
            <a:ext cx="2286000" cy="320040"/>
          </a:xfrm>
          <a:prstGeom prst="rect">
            <a:avLst/>
          </a:prstGeom>
          <a:noFill/>
        </p:spPr>
        <p:txBody>
          <a:bodyPr wrap="square">
            <a:spAutoFit/>
          </a:bodyPr>
          <a:lstStyle/>
          <a:p>
            <a:pPr algn="l"/>
            <a:r>
              <a:rPr sz="1200" b="1" i="0">
                <a:solidFill>
                  <a:srgbClr val="000000"/>
                </a:solidFill>
                <a:latin typeface="Calibri"/>
              </a:rPr>
              <a:t>Paros x falta repuesto</a:t>
            </a:r>
          </a:p>
        </p:txBody>
      </p:sp>
      <p:sp>
        <p:nvSpPr>
          <p:cNvPr id="58" name="TextBox 57"/>
          <p:cNvSpPr txBox="1"/>
          <p:nvPr/>
        </p:nvSpPr>
        <p:spPr>
          <a:xfrm>
            <a:off x="6537960" y="4462272"/>
            <a:ext cx="640080" cy="274320"/>
          </a:xfrm>
          <a:prstGeom prst="rect">
            <a:avLst/>
          </a:prstGeom>
          <a:noFill/>
        </p:spPr>
        <p:txBody>
          <a:bodyPr wrap="square">
            <a:spAutoFit/>
          </a:bodyPr>
          <a:lstStyle/>
          <a:p>
            <a:pPr algn="l"/>
            <a:r>
              <a:rPr sz="1000" b="0" i="0">
                <a:solidFill>
                  <a:srgbClr val="595959"/>
                </a:solidFill>
                <a:latin typeface="Calibri"/>
              </a:rPr>
              <a:t>Actual:</a:t>
            </a:r>
          </a:p>
        </p:txBody>
      </p:sp>
      <p:sp>
        <p:nvSpPr>
          <p:cNvPr id="59" name="TextBox 58"/>
          <p:cNvSpPr txBox="1"/>
          <p:nvPr/>
        </p:nvSpPr>
        <p:spPr>
          <a:xfrm>
            <a:off x="7150608" y="4425696"/>
            <a:ext cx="914400" cy="347472"/>
          </a:xfrm>
          <a:prstGeom prst="rect">
            <a:avLst/>
          </a:prstGeom>
          <a:noFill/>
        </p:spPr>
        <p:txBody>
          <a:bodyPr wrap="square">
            <a:spAutoFit/>
          </a:bodyPr>
          <a:lstStyle/>
          <a:p>
            <a:pPr algn="l"/>
            <a:r>
              <a:rPr sz="1400" b="1" i="0">
                <a:solidFill>
                  <a:srgbClr val="C00000"/>
                </a:solidFill>
                <a:latin typeface="Calibri"/>
              </a:rPr>
              <a:t>N/D</a:t>
            </a:r>
          </a:p>
        </p:txBody>
      </p:sp>
      <p:sp>
        <p:nvSpPr>
          <p:cNvPr id="60" name="TextBox 59"/>
          <p:cNvSpPr txBox="1"/>
          <p:nvPr/>
        </p:nvSpPr>
        <p:spPr>
          <a:xfrm>
            <a:off x="8065008" y="4425696"/>
            <a:ext cx="320040" cy="347472"/>
          </a:xfrm>
          <a:prstGeom prst="rect">
            <a:avLst/>
          </a:prstGeom>
          <a:noFill/>
        </p:spPr>
        <p:txBody>
          <a:bodyPr wrap="square">
            <a:spAutoFit/>
          </a:bodyPr>
          <a:lstStyle/>
          <a:p>
            <a:pPr algn="ctr"/>
            <a:r>
              <a:rPr sz="1400" b="0" i="0">
                <a:solidFill>
                  <a:srgbClr val="595959"/>
                </a:solidFill>
                <a:latin typeface="Calibri"/>
              </a:rPr>
              <a:t>→</a:t>
            </a:r>
          </a:p>
        </p:txBody>
      </p:sp>
      <p:sp>
        <p:nvSpPr>
          <p:cNvPr id="61" name="TextBox 60"/>
          <p:cNvSpPr txBox="1"/>
          <p:nvPr/>
        </p:nvSpPr>
        <p:spPr>
          <a:xfrm>
            <a:off x="8430768" y="4462272"/>
            <a:ext cx="640080" cy="274320"/>
          </a:xfrm>
          <a:prstGeom prst="rect">
            <a:avLst/>
          </a:prstGeom>
          <a:noFill/>
        </p:spPr>
        <p:txBody>
          <a:bodyPr wrap="square">
            <a:spAutoFit/>
          </a:bodyPr>
          <a:lstStyle/>
          <a:p>
            <a:pPr algn="l"/>
            <a:r>
              <a:rPr sz="1000" b="0" i="0">
                <a:solidFill>
                  <a:srgbClr val="595959"/>
                </a:solidFill>
                <a:latin typeface="Calibri"/>
              </a:rPr>
              <a:t>Meta:</a:t>
            </a:r>
          </a:p>
        </p:txBody>
      </p:sp>
      <p:sp>
        <p:nvSpPr>
          <p:cNvPr id="62" name="TextBox 61"/>
          <p:cNvSpPr txBox="1"/>
          <p:nvPr/>
        </p:nvSpPr>
        <p:spPr>
          <a:xfrm>
            <a:off x="9025128" y="4425696"/>
            <a:ext cx="914400" cy="347472"/>
          </a:xfrm>
          <a:prstGeom prst="rect">
            <a:avLst/>
          </a:prstGeom>
          <a:noFill/>
        </p:spPr>
        <p:txBody>
          <a:bodyPr wrap="square">
            <a:spAutoFit/>
          </a:bodyPr>
          <a:lstStyle/>
          <a:p>
            <a:pPr algn="l"/>
            <a:r>
              <a:rPr sz="1400" b="1" i="0">
                <a:solidFill>
                  <a:srgbClr val="375623"/>
                </a:solidFill>
                <a:latin typeface="Calibri"/>
              </a:rPr>
              <a:t>0</a:t>
            </a:r>
          </a:p>
        </p:txBody>
      </p:sp>
      <p:sp>
        <p:nvSpPr>
          <p:cNvPr id="63" name="TextBox 62"/>
          <p:cNvSpPr txBox="1"/>
          <p:nvPr/>
        </p:nvSpPr>
        <p:spPr>
          <a:xfrm>
            <a:off x="6537960" y="4828032"/>
            <a:ext cx="5120640" cy="274320"/>
          </a:xfrm>
          <a:prstGeom prst="rect">
            <a:avLst/>
          </a:prstGeom>
          <a:noFill/>
        </p:spPr>
        <p:txBody>
          <a:bodyPr wrap="square">
            <a:spAutoFit/>
          </a:bodyPr>
          <a:lstStyle/>
          <a:p>
            <a:pPr algn="l"/>
            <a:r>
              <a:rPr sz="1000" b="0" i="1">
                <a:solidFill>
                  <a:srgbClr val="595959"/>
                </a:solidFill>
                <a:latin typeface="Calibri"/>
              </a:rPr>
              <a:t>Stock mínimo activo en Sept.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8136"/>
            <a:ext cx="12188952" cy="5495544"/>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11521440" cy="640080"/>
          </a:xfrm>
          <a:prstGeom prst="rect">
            <a:avLst/>
          </a:prstGeom>
          <a:noFill/>
        </p:spPr>
        <p:txBody>
          <a:bodyPr wrap="square">
            <a:spAutoFit/>
          </a:bodyPr>
          <a:lstStyle/>
          <a:p>
            <a:pPr algn="l"/>
            <a:r>
              <a:rPr sz="2800" b="1" i="0">
                <a:solidFill>
                  <a:srgbClr val="FFFFFF"/>
                </a:solidFill>
                <a:latin typeface="Calibri"/>
              </a:rPr>
              <a:t>Cronograma y Próximos Pasos</a:t>
            </a:r>
          </a:p>
        </p:txBody>
      </p:sp>
      <p:sp>
        <p:nvSpPr>
          <p:cNvPr id="5" name="TextBox 4"/>
          <p:cNvSpPr txBox="1"/>
          <p:nvPr/>
        </p:nvSpPr>
        <p:spPr>
          <a:xfrm>
            <a:off x="320040" y="713232"/>
            <a:ext cx="11521440" cy="320040"/>
          </a:xfrm>
          <a:prstGeom prst="rect">
            <a:avLst/>
          </a:prstGeom>
          <a:noFill/>
        </p:spPr>
        <p:txBody>
          <a:bodyPr wrap="square">
            <a:spAutoFit/>
          </a:bodyPr>
          <a:lstStyle/>
          <a:p>
            <a:pPr algn="l"/>
            <a:r>
              <a:rPr sz="1400" b="0" i="1">
                <a:solidFill>
                  <a:srgbClr val="BDD7EE"/>
                </a:solidFill>
                <a:latin typeface="Calibri"/>
              </a:rPr>
              <a:t>Acciones inmediatas — Semana 1 de Mayo 2026</a:t>
            </a:r>
          </a:p>
        </p:txBody>
      </p:sp>
      <p:sp>
        <p:nvSpPr>
          <p:cNvPr id="6" name="Rectangle 5"/>
          <p:cNvSpPr/>
          <p:nvPr/>
        </p:nvSpPr>
        <p:spPr>
          <a:xfrm>
            <a:off x="0" y="105156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88952"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9144000" cy="274320"/>
          </a:xfrm>
          <a:prstGeom prst="rect">
            <a:avLst/>
          </a:prstGeom>
          <a:noFill/>
        </p:spPr>
        <p:txBody>
          <a:bodyPr wrap="square">
            <a:spAutoFit/>
          </a:bodyPr>
          <a:lstStyle/>
          <a:p>
            <a:pPr algn="l"/>
            <a:r>
              <a:rPr sz="900" b="0" i="1">
                <a:solidFill>
                  <a:srgbClr val="BDD7EE"/>
                </a:solidFill>
                <a:latin typeface="Calibri"/>
              </a:rPr>
              <a:t>Optimización de Costos de Mantenimiento 2026  |  Confidencial — Uso Interno</a:t>
            </a:r>
          </a:p>
        </p:txBody>
      </p:sp>
      <p:sp>
        <p:nvSpPr>
          <p:cNvPr id="9" name="TextBox 8"/>
          <p:cNvSpPr txBox="1"/>
          <p:nvPr/>
        </p:nvSpPr>
        <p:spPr>
          <a:xfrm>
            <a:off x="11247120" y="6583680"/>
            <a:ext cx="822960" cy="274320"/>
          </a:xfrm>
          <a:prstGeom prst="rect">
            <a:avLst/>
          </a:prstGeom>
          <a:noFill/>
        </p:spPr>
        <p:txBody>
          <a:bodyPr wrap="square">
            <a:spAutoFit/>
          </a:bodyPr>
          <a:lstStyle/>
          <a:p>
            <a:pPr algn="r"/>
            <a:r>
              <a:rPr sz="900" b="1" i="0">
                <a:solidFill>
                  <a:srgbClr val="FFFFFF"/>
                </a:solidFill>
                <a:latin typeface="Calibri"/>
              </a:rPr>
              <a:t>8 / 8</a:t>
            </a:r>
          </a:p>
        </p:txBody>
      </p:sp>
      <p:sp>
        <p:nvSpPr>
          <p:cNvPr id="10" name="Rectangle 9"/>
          <p:cNvSpPr/>
          <p:nvPr/>
        </p:nvSpPr>
        <p:spPr>
          <a:xfrm>
            <a:off x="320040" y="1298448"/>
            <a:ext cx="2670048" cy="65836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353312"/>
            <a:ext cx="2487168" cy="566928"/>
          </a:xfrm>
          <a:prstGeom prst="rect">
            <a:avLst/>
          </a:prstGeom>
          <a:noFill/>
        </p:spPr>
        <p:txBody>
          <a:bodyPr wrap="square">
            <a:spAutoFit/>
          </a:bodyPr>
          <a:lstStyle/>
          <a:p>
            <a:pPr algn="ctr"/>
            <a:r>
              <a:rPr sz="1300" b="1" i="0">
                <a:solidFill>
                  <a:srgbClr val="FFFFFF"/>
                </a:solidFill>
                <a:latin typeface="Calibri"/>
              </a:rPr>
              <a:t>SEMANA 1
Mayo 2026</a:t>
            </a:r>
          </a:p>
        </p:txBody>
      </p:sp>
      <p:sp>
        <p:nvSpPr>
          <p:cNvPr id="12" name="Rectangle 11"/>
          <p:cNvSpPr/>
          <p:nvPr/>
        </p:nvSpPr>
        <p:spPr>
          <a:xfrm>
            <a:off x="2990088" y="1536192"/>
            <a:ext cx="228600" cy="1828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048256"/>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2048256"/>
            <a:ext cx="128016" cy="58521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2121408"/>
            <a:ext cx="2395728" cy="457200"/>
          </a:xfrm>
          <a:prstGeom prst="rect">
            <a:avLst/>
          </a:prstGeom>
          <a:noFill/>
        </p:spPr>
        <p:txBody>
          <a:bodyPr wrap="square">
            <a:spAutoFit/>
          </a:bodyPr>
          <a:lstStyle/>
          <a:p>
            <a:pPr algn="l"/>
            <a:r>
              <a:rPr sz="1100" b="0" i="0">
                <a:solidFill>
                  <a:srgbClr val="000000"/>
                </a:solidFill>
                <a:latin typeface="Calibri"/>
              </a:rPr>
              <a:t>Aprobar plan en junta directiva</a:t>
            </a:r>
          </a:p>
        </p:txBody>
      </p:sp>
      <p:sp>
        <p:nvSpPr>
          <p:cNvPr id="16" name="Rectangle 15"/>
          <p:cNvSpPr/>
          <p:nvPr/>
        </p:nvSpPr>
        <p:spPr>
          <a:xfrm>
            <a:off x="320040" y="2706624"/>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706624"/>
            <a:ext cx="128016" cy="58521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779776"/>
            <a:ext cx="2395728" cy="457200"/>
          </a:xfrm>
          <a:prstGeom prst="rect">
            <a:avLst/>
          </a:prstGeom>
          <a:noFill/>
        </p:spPr>
        <p:txBody>
          <a:bodyPr wrap="square">
            <a:spAutoFit/>
          </a:bodyPr>
          <a:lstStyle/>
          <a:p>
            <a:pPr algn="l"/>
            <a:r>
              <a:rPr sz="1100" b="0" i="0">
                <a:solidFill>
                  <a:srgbClr val="000000"/>
                </a:solidFill>
                <a:latin typeface="Calibri"/>
              </a:rPr>
              <a:t>Implementar OT con aprobación escalonada</a:t>
            </a:r>
          </a:p>
        </p:txBody>
      </p:sp>
      <p:sp>
        <p:nvSpPr>
          <p:cNvPr id="19" name="Rectangle 18"/>
          <p:cNvSpPr/>
          <p:nvPr/>
        </p:nvSpPr>
        <p:spPr>
          <a:xfrm>
            <a:off x="320040" y="3364992"/>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3364992"/>
            <a:ext cx="128016" cy="58521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3438144"/>
            <a:ext cx="2395728" cy="457200"/>
          </a:xfrm>
          <a:prstGeom prst="rect">
            <a:avLst/>
          </a:prstGeom>
          <a:noFill/>
        </p:spPr>
        <p:txBody>
          <a:bodyPr wrap="square">
            <a:spAutoFit/>
          </a:bodyPr>
          <a:lstStyle/>
          <a:p>
            <a:pPr algn="l"/>
            <a:r>
              <a:rPr sz="1100" b="0" i="0">
                <a:solidFill>
                  <a:srgbClr val="000000"/>
                </a:solidFill>
                <a:latin typeface="Calibri"/>
              </a:rPr>
              <a:t>Congelar personal temporal nuevo</a:t>
            </a:r>
          </a:p>
        </p:txBody>
      </p:sp>
      <p:sp>
        <p:nvSpPr>
          <p:cNvPr id="22" name="Rectangle 21"/>
          <p:cNvSpPr/>
          <p:nvPr/>
        </p:nvSpPr>
        <p:spPr>
          <a:xfrm>
            <a:off x="320040" y="4023360"/>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4023360"/>
            <a:ext cx="128016" cy="58521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208" y="4096512"/>
            <a:ext cx="2395728" cy="457200"/>
          </a:xfrm>
          <a:prstGeom prst="rect">
            <a:avLst/>
          </a:prstGeom>
          <a:noFill/>
        </p:spPr>
        <p:txBody>
          <a:bodyPr wrap="square">
            <a:spAutoFit/>
          </a:bodyPr>
          <a:lstStyle/>
          <a:p>
            <a:pPr algn="l"/>
            <a:r>
              <a:rPr sz="1100" b="0" i="0">
                <a:solidFill>
                  <a:srgbClr val="000000"/>
                </a:solidFill>
                <a:latin typeface="Calibri"/>
              </a:rPr>
              <a:t>Documentar retroactivo abril ($68.7M)</a:t>
            </a:r>
          </a:p>
        </p:txBody>
      </p:sp>
      <p:sp>
        <p:nvSpPr>
          <p:cNvPr id="25" name="Rectangle 24"/>
          <p:cNvSpPr/>
          <p:nvPr/>
        </p:nvSpPr>
        <p:spPr>
          <a:xfrm>
            <a:off x="3218688" y="1298448"/>
            <a:ext cx="2670048" cy="65836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10128" y="1353312"/>
            <a:ext cx="2487168" cy="566928"/>
          </a:xfrm>
          <a:prstGeom prst="rect">
            <a:avLst/>
          </a:prstGeom>
          <a:noFill/>
        </p:spPr>
        <p:txBody>
          <a:bodyPr wrap="square">
            <a:spAutoFit/>
          </a:bodyPr>
          <a:lstStyle/>
          <a:p>
            <a:pPr algn="ctr"/>
            <a:r>
              <a:rPr sz="1300" b="1" i="0">
                <a:solidFill>
                  <a:srgbClr val="FFFFFF"/>
                </a:solidFill>
                <a:latin typeface="Calibri"/>
              </a:rPr>
              <a:t>JUNIO –
JULIO 2026</a:t>
            </a:r>
          </a:p>
        </p:txBody>
      </p:sp>
      <p:sp>
        <p:nvSpPr>
          <p:cNvPr id="27" name="Rectangle 26"/>
          <p:cNvSpPr/>
          <p:nvPr/>
        </p:nvSpPr>
        <p:spPr>
          <a:xfrm>
            <a:off x="5888736" y="1536192"/>
            <a:ext cx="228600" cy="1828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18688" y="2048256"/>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18688" y="2048256"/>
            <a:ext cx="128016" cy="58521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19856" y="2121408"/>
            <a:ext cx="2395728" cy="457200"/>
          </a:xfrm>
          <a:prstGeom prst="rect">
            <a:avLst/>
          </a:prstGeom>
          <a:noFill/>
        </p:spPr>
        <p:txBody>
          <a:bodyPr wrap="square">
            <a:spAutoFit/>
          </a:bodyPr>
          <a:lstStyle/>
          <a:p>
            <a:pPr algn="l"/>
            <a:r>
              <a:rPr sz="1100" b="0" i="0">
                <a:solidFill>
                  <a:srgbClr val="000000"/>
                </a:solidFill>
                <a:latin typeface="Calibri"/>
              </a:rPr>
              <a:t>Iniciar negociación 5 proveedores</a:t>
            </a:r>
          </a:p>
        </p:txBody>
      </p:sp>
      <p:sp>
        <p:nvSpPr>
          <p:cNvPr id="31" name="Rectangle 30"/>
          <p:cNvSpPr/>
          <p:nvPr/>
        </p:nvSpPr>
        <p:spPr>
          <a:xfrm>
            <a:off x="3218688" y="2706624"/>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18688" y="2706624"/>
            <a:ext cx="128016" cy="58521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19856" y="2779776"/>
            <a:ext cx="2395728" cy="457200"/>
          </a:xfrm>
          <a:prstGeom prst="rect">
            <a:avLst/>
          </a:prstGeom>
          <a:noFill/>
        </p:spPr>
        <p:txBody>
          <a:bodyPr wrap="square">
            <a:spAutoFit/>
          </a:bodyPr>
          <a:lstStyle/>
          <a:p>
            <a:pPr algn="l"/>
            <a:r>
              <a:rPr sz="1100" b="0" i="0">
                <a:solidFill>
                  <a:srgbClr val="000000"/>
                </a:solidFill>
                <a:latin typeface="Calibri"/>
              </a:rPr>
              <a:t>Auditoría contable $146.9M</a:t>
            </a:r>
          </a:p>
        </p:txBody>
      </p:sp>
      <p:sp>
        <p:nvSpPr>
          <p:cNvPr id="34" name="Rectangle 33"/>
          <p:cNvSpPr/>
          <p:nvPr/>
        </p:nvSpPr>
        <p:spPr>
          <a:xfrm>
            <a:off x="3218688" y="3364992"/>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18688" y="3364992"/>
            <a:ext cx="128016" cy="58521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19856" y="3438144"/>
            <a:ext cx="2395728" cy="457200"/>
          </a:xfrm>
          <a:prstGeom prst="rect">
            <a:avLst/>
          </a:prstGeom>
          <a:noFill/>
        </p:spPr>
        <p:txBody>
          <a:bodyPr wrap="square">
            <a:spAutoFit/>
          </a:bodyPr>
          <a:lstStyle/>
          <a:p>
            <a:pPr algn="l"/>
            <a:r>
              <a:rPr sz="1100" b="0" i="0">
                <a:solidFill>
                  <a:srgbClr val="000000"/>
                </a:solidFill>
                <a:latin typeface="Calibri"/>
              </a:rPr>
              <a:t>Reducir temporal a $9M/mes</a:t>
            </a:r>
          </a:p>
        </p:txBody>
      </p:sp>
      <p:sp>
        <p:nvSpPr>
          <p:cNvPr id="37" name="Rectangle 36"/>
          <p:cNvSpPr/>
          <p:nvPr/>
        </p:nvSpPr>
        <p:spPr>
          <a:xfrm>
            <a:off x="3218688" y="4023360"/>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18688" y="4023360"/>
            <a:ext cx="128016" cy="58521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19856" y="4096512"/>
            <a:ext cx="2395728" cy="457200"/>
          </a:xfrm>
          <a:prstGeom prst="rect">
            <a:avLst/>
          </a:prstGeom>
          <a:noFill/>
        </p:spPr>
        <p:txBody>
          <a:bodyPr wrap="square">
            <a:spAutoFit/>
          </a:bodyPr>
          <a:lstStyle/>
          <a:p>
            <a:pPr algn="l"/>
            <a:r>
              <a:rPr sz="1100" b="0" i="0">
                <a:solidFill>
                  <a:srgbClr val="000000"/>
                </a:solidFill>
                <a:latin typeface="Calibri"/>
              </a:rPr>
              <a:t>Primer contrato firmado</a:t>
            </a:r>
          </a:p>
        </p:txBody>
      </p:sp>
      <p:sp>
        <p:nvSpPr>
          <p:cNvPr id="40" name="Rectangle 39"/>
          <p:cNvSpPr/>
          <p:nvPr/>
        </p:nvSpPr>
        <p:spPr>
          <a:xfrm>
            <a:off x="6117336" y="1298448"/>
            <a:ext cx="2670048" cy="65836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08776" y="1353312"/>
            <a:ext cx="2487168" cy="566928"/>
          </a:xfrm>
          <a:prstGeom prst="rect">
            <a:avLst/>
          </a:prstGeom>
          <a:noFill/>
        </p:spPr>
        <p:txBody>
          <a:bodyPr wrap="square">
            <a:spAutoFit/>
          </a:bodyPr>
          <a:lstStyle/>
          <a:p>
            <a:pPr algn="ctr"/>
            <a:r>
              <a:rPr sz="1300" b="1" i="0">
                <a:solidFill>
                  <a:srgbClr val="FFFFFF"/>
                </a:solidFill>
                <a:latin typeface="Calibri"/>
              </a:rPr>
              <a:t>AGOSTO –
SEPT. 2026</a:t>
            </a:r>
          </a:p>
        </p:txBody>
      </p:sp>
      <p:sp>
        <p:nvSpPr>
          <p:cNvPr id="42" name="Rectangle 41"/>
          <p:cNvSpPr/>
          <p:nvPr/>
        </p:nvSpPr>
        <p:spPr>
          <a:xfrm>
            <a:off x="8787384" y="1536192"/>
            <a:ext cx="228600" cy="1828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17336" y="2048256"/>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17336" y="2048256"/>
            <a:ext cx="128016" cy="58521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18504" y="2121408"/>
            <a:ext cx="2395728" cy="457200"/>
          </a:xfrm>
          <a:prstGeom prst="rect">
            <a:avLst/>
          </a:prstGeom>
          <a:noFill/>
        </p:spPr>
        <p:txBody>
          <a:bodyPr wrap="square">
            <a:spAutoFit/>
          </a:bodyPr>
          <a:lstStyle/>
          <a:p>
            <a:pPr algn="l"/>
            <a:r>
              <a:rPr sz="1100" b="0" i="0">
                <a:solidFill>
                  <a:srgbClr val="000000"/>
                </a:solidFill>
                <a:latin typeface="Calibri"/>
              </a:rPr>
              <a:t>Stock repuestos críticos operativo</a:t>
            </a:r>
          </a:p>
        </p:txBody>
      </p:sp>
      <p:sp>
        <p:nvSpPr>
          <p:cNvPr id="46" name="Rectangle 45"/>
          <p:cNvSpPr/>
          <p:nvPr/>
        </p:nvSpPr>
        <p:spPr>
          <a:xfrm>
            <a:off x="6117336" y="2706624"/>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17336" y="2706624"/>
            <a:ext cx="128016" cy="58521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18504" y="2779776"/>
            <a:ext cx="2395728" cy="457200"/>
          </a:xfrm>
          <a:prstGeom prst="rect">
            <a:avLst/>
          </a:prstGeom>
          <a:noFill/>
        </p:spPr>
        <p:txBody>
          <a:bodyPr wrap="square">
            <a:spAutoFit/>
          </a:bodyPr>
          <a:lstStyle/>
          <a:p>
            <a:pPr algn="l"/>
            <a:r>
              <a:rPr sz="1100" b="0" i="0">
                <a:solidFill>
                  <a:srgbClr val="000000"/>
                </a:solidFill>
                <a:latin typeface="Calibri"/>
              </a:rPr>
              <a:t>Plan Maestro PM activo</a:t>
            </a:r>
          </a:p>
        </p:txBody>
      </p:sp>
      <p:sp>
        <p:nvSpPr>
          <p:cNvPr id="49" name="Rectangle 48"/>
          <p:cNvSpPr/>
          <p:nvPr/>
        </p:nvSpPr>
        <p:spPr>
          <a:xfrm>
            <a:off x="6117336" y="3364992"/>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17336" y="3364992"/>
            <a:ext cx="128016" cy="58521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18504" y="3438144"/>
            <a:ext cx="2395728" cy="457200"/>
          </a:xfrm>
          <a:prstGeom prst="rect">
            <a:avLst/>
          </a:prstGeom>
          <a:noFill/>
        </p:spPr>
        <p:txBody>
          <a:bodyPr wrap="square">
            <a:spAutoFit/>
          </a:bodyPr>
          <a:lstStyle/>
          <a:p>
            <a:pPr algn="l"/>
            <a:r>
              <a:rPr sz="1100" b="0" i="0">
                <a:solidFill>
                  <a:srgbClr val="000000"/>
                </a:solidFill>
                <a:latin typeface="Calibri"/>
              </a:rPr>
              <a:t>5 contratos firmados</a:t>
            </a:r>
          </a:p>
        </p:txBody>
      </p:sp>
      <p:sp>
        <p:nvSpPr>
          <p:cNvPr id="52" name="Rectangle 51"/>
          <p:cNvSpPr/>
          <p:nvPr/>
        </p:nvSpPr>
        <p:spPr>
          <a:xfrm>
            <a:off x="6117336" y="4023360"/>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17336" y="4023360"/>
            <a:ext cx="128016" cy="58521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18504" y="4096512"/>
            <a:ext cx="2395728" cy="457200"/>
          </a:xfrm>
          <a:prstGeom prst="rect">
            <a:avLst/>
          </a:prstGeom>
          <a:noFill/>
        </p:spPr>
        <p:txBody>
          <a:bodyPr wrap="square">
            <a:spAutoFit/>
          </a:bodyPr>
          <a:lstStyle/>
          <a:p>
            <a:pPr algn="l"/>
            <a:r>
              <a:rPr sz="1100" b="0" i="0">
                <a:solidFill>
                  <a:srgbClr val="000000"/>
                </a:solidFill>
                <a:latin typeface="Calibri"/>
              </a:rPr>
              <a:t>% Preventivo ≥ 52%</a:t>
            </a:r>
          </a:p>
        </p:txBody>
      </p:sp>
      <p:sp>
        <p:nvSpPr>
          <p:cNvPr id="55" name="Rectangle 54"/>
          <p:cNvSpPr/>
          <p:nvPr/>
        </p:nvSpPr>
        <p:spPr>
          <a:xfrm>
            <a:off x="9015984" y="1298448"/>
            <a:ext cx="2670048" cy="658368"/>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07424" y="1353312"/>
            <a:ext cx="2487168" cy="566928"/>
          </a:xfrm>
          <a:prstGeom prst="rect">
            <a:avLst/>
          </a:prstGeom>
          <a:noFill/>
        </p:spPr>
        <p:txBody>
          <a:bodyPr wrap="square">
            <a:spAutoFit/>
          </a:bodyPr>
          <a:lstStyle/>
          <a:p>
            <a:pPr algn="ctr"/>
            <a:r>
              <a:rPr sz="1300" b="1" i="0">
                <a:solidFill>
                  <a:srgbClr val="FFFFFF"/>
                </a:solidFill>
                <a:latin typeface="Calibri"/>
              </a:rPr>
              <a:t>OCT. –
DIC. 2026</a:t>
            </a:r>
          </a:p>
        </p:txBody>
      </p:sp>
      <p:sp>
        <p:nvSpPr>
          <p:cNvPr id="57" name="Rectangle 56"/>
          <p:cNvSpPr/>
          <p:nvPr/>
        </p:nvSpPr>
        <p:spPr>
          <a:xfrm>
            <a:off x="9015984" y="2048256"/>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015984" y="2048256"/>
            <a:ext cx="128016" cy="585216"/>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217152" y="2121408"/>
            <a:ext cx="2395728" cy="457200"/>
          </a:xfrm>
          <a:prstGeom prst="rect">
            <a:avLst/>
          </a:prstGeom>
          <a:noFill/>
        </p:spPr>
        <p:txBody>
          <a:bodyPr wrap="square">
            <a:spAutoFit/>
          </a:bodyPr>
          <a:lstStyle/>
          <a:p>
            <a:pPr algn="l"/>
            <a:r>
              <a:rPr sz="1100" b="0" i="0">
                <a:solidFill>
                  <a:srgbClr val="000000"/>
                </a:solidFill>
                <a:latin typeface="Calibri"/>
              </a:rPr>
              <a:t>CMMS implementado</a:t>
            </a:r>
          </a:p>
        </p:txBody>
      </p:sp>
      <p:sp>
        <p:nvSpPr>
          <p:cNvPr id="60" name="Rectangle 59"/>
          <p:cNvSpPr/>
          <p:nvPr/>
        </p:nvSpPr>
        <p:spPr>
          <a:xfrm>
            <a:off x="9015984" y="2706624"/>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015984" y="2706624"/>
            <a:ext cx="128016" cy="585216"/>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17152" y="2779776"/>
            <a:ext cx="2395728" cy="457200"/>
          </a:xfrm>
          <a:prstGeom prst="rect">
            <a:avLst/>
          </a:prstGeom>
          <a:noFill/>
        </p:spPr>
        <p:txBody>
          <a:bodyPr wrap="square">
            <a:spAutoFit/>
          </a:bodyPr>
          <a:lstStyle/>
          <a:p>
            <a:pPr algn="l"/>
            <a:r>
              <a:rPr sz="1100" b="0" i="0">
                <a:solidFill>
                  <a:srgbClr val="000000"/>
                </a:solidFill>
                <a:latin typeface="Calibri"/>
              </a:rPr>
              <a:t>Nómina 2027 redimensionada</a:t>
            </a:r>
          </a:p>
        </p:txBody>
      </p:sp>
      <p:sp>
        <p:nvSpPr>
          <p:cNvPr id="63" name="Rectangle 62"/>
          <p:cNvSpPr/>
          <p:nvPr/>
        </p:nvSpPr>
        <p:spPr>
          <a:xfrm>
            <a:off x="9015984" y="3364992"/>
            <a:ext cx="2670048" cy="585216"/>
          </a:xfrm>
          <a:prstGeom prst="rect">
            <a:avLst/>
          </a:prstGeom>
          <a:solidFill>
            <a:srgbClr val="FFFFFF"/>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015984" y="3364992"/>
            <a:ext cx="128016" cy="585216"/>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217152" y="3438144"/>
            <a:ext cx="2395728" cy="457200"/>
          </a:xfrm>
          <a:prstGeom prst="rect">
            <a:avLst/>
          </a:prstGeom>
          <a:noFill/>
        </p:spPr>
        <p:txBody>
          <a:bodyPr wrap="square">
            <a:spAutoFit/>
          </a:bodyPr>
          <a:lstStyle/>
          <a:p>
            <a:pPr algn="l"/>
            <a:r>
              <a:rPr sz="1100" b="0" i="0">
                <a:solidFill>
                  <a:srgbClr val="000000"/>
                </a:solidFill>
                <a:latin typeface="Calibri"/>
              </a:rPr>
              <a:t>Presupuesto Base Cero 2027</a:t>
            </a:r>
          </a:p>
        </p:txBody>
      </p:sp>
      <p:sp>
        <p:nvSpPr>
          <p:cNvPr id="66" name="Rectangle 65"/>
          <p:cNvSpPr/>
          <p:nvPr/>
        </p:nvSpPr>
        <p:spPr>
          <a:xfrm>
            <a:off x="9015984" y="4023360"/>
            <a:ext cx="2670048" cy="585216"/>
          </a:xfrm>
          <a:prstGeom prst="rect">
            <a:avLst/>
          </a:prstGeom>
          <a:solidFill>
            <a:srgbClr val="F7F7F7"/>
          </a:solidFill>
          <a:ln w="63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015984" y="4023360"/>
            <a:ext cx="128016" cy="585216"/>
          </a:xfrm>
          <a:prstGeom prst="rect">
            <a:avLst/>
          </a:prstGeom>
          <a:solidFill>
            <a:srgbClr val="375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217152" y="4096512"/>
            <a:ext cx="2395728" cy="457200"/>
          </a:xfrm>
          <a:prstGeom prst="rect">
            <a:avLst/>
          </a:prstGeom>
          <a:noFill/>
        </p:spPr>
        <p:txBody>
          <a:bodyPr wrap="square">
            <a:spAutoFit/>
          </a:bodyPr>
          <a:lstStyle/>
          <a:p>
            <a:pPr algn="l"/>
            <a:r>
              <a:rPr sz="1100" b="0" i="0">
                <a:solidFill>
                  <a:srgbClr val="000000"/>
                </a:solidFill>
                <a:latin typeface="Calibri"/>
              </a:rPr>
              <a:t>KPI ≤ 2.9% | Preventivo ≥ 60%</a:t>
            </a:r>
          </a:p>
        </p:txBody>
      </p:sp>
      <p:sp>
        <p:nvSpPr>
          <p:cNvPr id="69" name="Rectangle 68"/>
          <p:cNvSpPr/>
          <p:nvPr/>
        </p:nvSpPr>
        <p:spPr>
          <a:xfrm>
            <a:off x="320040" y="5413248"/>
            <a:ext cx="11548872" cy="914400"/>
          </a:xfrm>
          <a:prstGeom prst="rect">
            <a:avLst/>
          </a:prstGeom>
          <a:solidFill>
            <a:srgbClr val="DEEAF1"/>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200" y="5468112"/>
            <a:ext cx="2194560" cy="365760"/>
          </a:xfrm>
          <a:prstGeom prst="rect">
            <a:avLst/>
          </a:prstGeom>
          <a:noFill/>
        </p:spPr>
        <p:txBody>
          <a:bodyPr wrap="square">
            <a:spAutoFit/>
          </a:bodyPr>
          <a:lstStyle/>
          <a:p>
            <a:pPr algn="l"/>
            <a:r>
              <a:rPr sz="1200" b="1" i="0">
                <a:solidFill>
                  <a:srgbClr val="1F3864"/>
                </a:solidFill>
                <a:latin typeface="Calibri"/>
              </a:rPr>
              <a:t>CONDICIÓN DE ÉXITO:</a:t>
            </a:r>
          </a:p>
        </p:txBody>
      </p:sp>
      <p:sp>
        <p:nvSpPr>
          <p:cNvPr id="71" name="TextBox 70"/>
          <p:cNvSpPr txBox="1"/>
          <p:nvPr/>
        </p:nvSpPr>
        <p:spPr>
          <a:xfrm>
            <a:off x="2697480" y="5468112"/>
            <a:ext cx="9006840" cy="713232"/>
          </a:xfrm>
          <a:prstGeom prst="rect">
            <a:avLst/>
          </a:prstGeom>
          <a:noFill/>
        </p:spPr>
        <p:txBody>
          <a:bodyPr wrap="square">
            <a:spAutoFit/>
          </a:bodyPr>
          <a:lstStyle/>
          <a:p>
            <a:pPr algn="l"/>
            <a:r>
              <a:rPr sz="1100" b="0" i="0">
                <a:solidFill>
                  <a:srgbClr val="1F3864"/>
                </a:solidFill>
                <a:latin typeface="Calibri"/>
              </a:rPr>
              <a:t>Gerencia General debe garantizar: (1) Autoridad real del Jefe de Mantenimiento para rechazar trabajos no priorizados  (2) Reporte mensual de KPIs en reunión de resultados  (3) No comprimir el presupuesto de mantenimiento como variable de ajuste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